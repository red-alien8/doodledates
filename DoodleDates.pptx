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embeddedFontLst>
    <p:embeddedFont>
      <p:font typeface="Source Sans 3"/>
      <p:regular r:id="rId201314"/>
    </p:embeddedFont>
    <p:embeddedFont>
      <p:font typeface="Source Sans 3 Bold"/>
      <p:regular r:id="rId201315"/>
    </p:embeddedFont>
    <p:embeddedFont>
      <p:font typeface="Source Serif 4 Semi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4.png"/><Relationship Id="rId7" Type="http://schemas.openxmlformats.org/officeDocument/2006/relationships/image" Target="../media/image-2-5.sv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svg"/><Relationship Id="rId4" Type="http://schemas.openxmlformats.org/officeDocument/2006/relationships/image" Target="../media/image-15-4.png"/><Relationship Id="rId5" Type="http://schemas.openxmlformats.org/officeDocument/2006/relationships/image" Target="../media/image-15-5.svg"/><Relationship Id="rId6" Type="http://schemas.openxmlformats.org/officeDocument/2006/relationships/image" Target="../media/image-15-6.png"/><Relationship Id="rId7" Type="http://schemas.openxmlformats.org/officeDocument/2006/relationships/image" Target="../media/image-15-7.svg"/><Relationship Id="rId8" Type="http://schemas.openxmlformats.org/officeDocument/2006/relationships/image" Target="../media/image-15-8.png"/><Relationship Id="rId9" Type="http://schemas.openxmlformats.org/officeDocument/2006/relationships/image" Target="../media/image-15-9.sv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Shape 0"/>
          <p:cNvSpPr/>
          <p:nvPr/>
        </p:nvSpPr>
        <p:spPr>
          <a:xfrm>
            <a:off x="5269971" y="1842691"/>
            <a:ext cx="3502731" cy="303113"/>
          </a:xfrm>
          <a:prstGeom prst="roundRect">
            <a:avLst>
              <a:gd name="adj" fmla="val 22112"/>
            </a:avLst>
          </a:prstGeom>
          <a:noFill/>
          <a:ln w="6350">
            <a:solidFill>
              <a:srgbClr val="D75BE2"/>
            </a:solidFill>
            <a:prstDash val="solid"/>
          </a:ln>
        </p:spPr>
      </p:sp>
      <p:sp>
        <p:nvSpPr>
          <p:cNvPr id="4" name="Text 1"/>
          <p:cNvSpPr/>
          <p:nvPr/>
        </p:nvSpPr>
        <p:spPr>
          <a:xfrm>
            <a:off x="5389626" y="1902520"/>
            <a:ext cx="3873006" cy="183455"/>
          </a:xfrm>
          <a:prstGeom prst="rect">
            <a:avLst/>
          </a:prstGeom>
          <a:noFill/>
          <a:ln/>
        </p:spPr>
        <p:txBody>
          <a:bodyPr wrap="none" lIns="0" tIns="0" rIns="0" bIns="0" rtlCol="0" anchor="t"/>
          <a:lstStyle/>
          <a:p>
            <a:pPr algn="l" indent="0" marL="0">
              <a:lnSpc>
                <a:spcPct val="96000"/>
              </a:lnSpc>
              <a:buNone/>
            </a:pPr>
            <a:r>
              <a:rPr lang="en-US" sz="1250" spc="-31" kern="0" dirty="0">
                <a:solidFill>
                  <a:srgbClr val="D75BE2"/>
                </a:solidFill>
                <a:latin typeface="Source Sans 3" pitchFamily="34" charset="0"/>
                <a:ea typeface="Source Sans 3" pitchFamily="34" charset="-122"/>
                <a:cs typeface="Source Sans 3" pitchFamily="34" charset="-120"/>
              </a:rPr>
              <a:t>PERSONAL PRODUCTIVITY (ব্যক্তিগত উৎপাদনশীলতা)</a:t>
            </a:r>
            <a:endParaRPr lang="en-US" sz="1250" dirty="0"/>
          </a:p>
        </p:txBody>
      </p:sp>
      <p:sp>
        <p:nvSpPr>
          <p:cNvPr id="5" name="Shape 2"/>
          <p:cNvSpPr/>
          <p:nvPr/>
        </p:nvSpPr>
        <p:spPr>
          <a:xfrm>
            <a:off x="5269971" y="2245519"/>
            <a:ext cx="3007642" cy="303113"/>
          </a:xfrm>
          <a:prstGeom prst="roundRect">
            <a:avLst>
              <a:gd name="adj" fmla="val 22112"/>
            </a:avLst>
          </a:prstGeom>
          <a:noFill/>
          <a:ln w="6350">
            <a:solidFill>
              <a:srgbClr val="D75BE2"/>
            </a:solidFill>
            <a:prstDash val="solid"/>
          </a:ln>
        </p:spPr>
      </p:sp>
      <p:sp>
        <p:nvSpPr>
          <p:cNvPr id="6" name="Text 3"/>
          <p:cNvSpPr/>
          <p:nvPr/>
        </p:nvSpPr>
        <p:spPr>
          <a:xfrm>
            <a:off x="5389626" y="2305348"/>
            <a:ext cx="3377917" cy="183455"/>
          </a:xfrm>
          <a:prstGeom prst="rect">
            <a:avLst/>
          </a:prstGeom>
          <a:noFill/>
          <a:ln/>
        </p:spPr>
        <p:txBody>
          <a:bodyPr wrap="none" lIns="0" tIns="0" rIns="0" bIns="0" rtlCol="0" anchor="t"/>
          <a:lstStyle/>
          <a:p>
            <a:pPr algn="l" indent="0" marL="0">
              <a:lnSpc>
                <a:spcPct val="96000"/>
              </a:lnSpc>
              <a:buNone/>
            </a:pPr>
            <a:r>
              <a:rPr lang="en-US" sz="1250" spc="-31" kern="0" dirty="0">
                <a:solidFill>
                  <a:srgbClr val="D75BE2"/>
                </a:solidFill>
                <a:latin typeface="Source Sans 3" pitchFamily="34" charset="0"/>
                <a:ea typeface="Source Sans 3" pitchFamily="34" charset="-122"/>
                <a:cs typeface="Source Sans 3" pitchFamily="34" charset="-120"/>
              </a:rPr>
              <a:t>CREATIVE JOURNALING (সৃজনশীল জার্নালিং)</a:t>
            </a:r>
            <a:endParaRPr lang="en-US" sz="1250" dirty="0"/>
          </a:p>
        </p:txBody>
      </p:sp>
      <p:sp>
        <p:nvSpPr>
          <p:cNvPr id="7" name="Text 4"/>
          <p:cNvSpPr/>
          <p:nvPr/>
        </p:nvSpPr>
        <p:spPr>
          <a:xfrm>
            <a:off x="5269971" y="2628404"/>
            <a:ext cx="6223638" cy="586680"/>
          </a:xfrm>
          <a:prstGeom prst="rect">
            <a:avLst/>
          </a:prstGeom>
          <a:noFill/>
          <a:ln/>
        </p:spPr>
        <p:txBody>
          <a:bodyPr wrap="none" lIns="0" tIns="0" rIns="0" bIns="0" rtlCol="0" anchor="t"/>
          <a:lstStyle/>
          <a:p>
            <a:pPr algn="l" indent="0" marL="0">
              <a:lnSpc>
                <a:spcPct val="104000"/>
              </a:lnSpc>
              <a:buNone/>
            </a:pPr>
            <a:r>
              <a:rPr lang="en-US" sz="3650" spc="-74" kern="0" dirty="0">
                <a:solidFill>
                  <a:srgbClr val="D73AD7"/>
                </a:solidFill>
                <a:latin typeface="Source Serif 4 SemiBold" pitchFamily="34" charset="0"/>
                <a:ea typeface="Source Serif 4 SemiBold" pitchFamily="34" charset="-122"/>
                <a:cs typeface="Source Serif 4 SemiBold" pitchFamily="34" charset="-120"/>
              </a:rPr>
              <a:t>DoodleDates (ডুডলডেটস)</a:t>
            </a:r>
            <a:endParaRPr lang="en-US" sz="3650" dirty="0"/>
          </a:p>
        </p:txBody>
      </p:sp>
      <p:sp>
        <p:nvSpPr>
          <p:cNvPr id="8" name="Text 5"/>
          <p:cNvSpPr/>
          <p:nvPr/>
        </p:nvSpPr>
        <p:spPr>
          <a:xfrm>
            <a:off x="5269971" y="3514229"/>
            <a:ext cx="6223638" cy="1501080"/>
          </a:xfrm>
          <a:prstGeom prst="rect">
            <a:avLst/>
          </a:prstGeom>
          <a:noFill/>
          <a:ln/>
        </p:spPr>
        <p:txBody>
          <a:bodyPr wrap="square" lIns="0" tIns="0" rIns="0" bIns="0" rtlCol="0" anchor="t">
            <a:normAutofit/>
          </a:bodyPr>
          <a:lstStyle/>
          <a:p>
            <a:pPr algn="l" indent="0" marL="0">
              <a:lnSpc>
                <a:spcPct val="133000"/>
              </a:lnSpc>
              <a:spcAft>
                <a:spcPts val="1750"/>
              </a:spcAft>
              <a:buNone/>
            </a:pPr>
            <a:r>
              <a:rPr lang="en-US" sz="1550" b="1" spc="-31" kern="0" dirty="0">
                <a:solidFill>
                  <a:srgbClr val="272525"/>
                </a:solidFill>
                <a:latin typeface="Source Sans 3 Bold" pitchFamily="34" charset="0"/>
                <a:ea typeface="Source Sans 3 Bold" pitchFamily="34" charset="-122"/>
                <a:cs typeface="Source Sans 3 Bold" pitchFamily="34" charset="-120"/>
              </a:rPr>
              <a:t>A Personal Handwritten Diary Calendar App (একটি ব্যক্তিগত হাতে-লেখা ডায়েরি ক্যালেন্ডার অ্যাপ)</a:t>
            </a:r>
            <a:endParaRPr lang="en-US" sz="1550" dirty="0"/>
          </a:p>
          <a:p>
            <a:pPr algn="l" indent="0" marL="0">
              <a:lnSpc>
                <a:spcPct val="133000"/>
              </a:lnSpc>
              <a:buNone/>
            </a:pPr>
            <a:r>
              <a:rPr lang="en-US" sz="1550" i="1" spc="-31" kern="0" dirty="0">
                <a:solidFill>
                  <a:srgbClr val="272525"/>
                </a:solidFill>
                <a:latin typeface="Source Sans 3" pitchFamily="34" charset="0"/>
                <a:ea typeface="Source Sans 3" pitchFamily="34" charset="-122"/>
                <a:cs typeface="Source Sans 3" pitchFamily="34" charset="-120"/>
              </a:rPr>
              <a:t>Turn your calendar into a creative memory canvas (আপনার ক্যালেন্ডারকে একটি সৃজনশীল স্মৃতির ক্যানভাসে রূপ দিন)</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4D4F7"/>
          </a:solidFill>
          <a:ln/>
        </p:spPr>
      </p:sp>
      <p:pic>
        <p:nvPicPr>
          <p:cNvPr id="3" name="Image 0" descr="preencoded.png">    </p:cNvPr>
          <p:cNvPicPr>
            <a:picLocks noChangeAspect="1"/>
          </p:cNvPicPr>
          <p:nvPr/>
        </p:nvPicPr>
        <p:blipFill>
          <a:blip r:embed="rId1"/>
          <a:stretch>
            <a:fillRect/>
          </a:stretch>
        </p:blipFill>
        <p:spPr>
          <a:xfrm>
            <a:off x="7700770" y="488950"/>
            <a:ext cx="4409965" cy="5880100"/>
          </a:xfrm>
          <a:prstGeom prst="rect">
            <a:avLst/>
          </a:prstGeom>
        </p:spPr>
      </p:pic>
      <p:sp>
        <p:nvSpPr>
          <p:cNvPr id="4" name="Text 1"/>
          <p:cNvSpPr/>
          <p:nvPr/>
        </p:nvSpPr>
        <p:spPr>
          <a:xfrm>
            <a:off x="698086" y="643334"/>
            <a:ext cx="6223638" cy="476746"/>
          </a:xfrm>
          <a:prstGeom prst="rect">
            <a:avLst/>
          </a:prstGeom>
          <a:noFill/>
          <a:ln/>
        </p:spPr>
        <p:txBody>
          <a:bodyPr wrap="none" lIns="0" tIns="0" rIns="0" bIns="0" rtlCol="0" anchor="t"/>
          <a:lstStyle/>
          <a:p>
            <a:pPr algn="l" indent="0" marL="0">
              <a:lnSpc>
                <a:spcPct val="104000"/>
              </a:lnSpc>
              <a:buNone/>
            </a:pPr>
            <a:r>
              <a:rPr lang="en-US" sz="3000" spc="-60" kern="0" dirty="0">
                <a:solidFill>
                  <a:srgbClr val="D73AD7"/>
                </a:solidFill>
                <a:latin typeface="Source Serif 4 SemiBold" pitchFamily="34" charset="0"/>
                <a:ea typeface="Source Serif 4 SemiBold" pitchFamily="34" charset="-122"/>
                <a:cs typeface="Source Serif 4 SemiBold" pitchFamily="34" charset="-120"/>
              </a:rPr>
              <a:t>The Problem (সমস্যা)</a:t>
            </a:r>
            <a:endParaRPr lang="en-US" sz="30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086" y="1317526"/>
            <a:ext cx="6223638" cy="1387872"/>
          </a:xfrm>
          <a:prstGeom prst="rect">
            <a:avLst/>
          </a:prstGeom>
        </p:spPr>
      </p:pic>
      <p:sp>
        <p:nvSpPr>
          <p:cNvPr id="6" name="Text 2"/>
          <p:cNvSpPr/>
          <p:nvPr/>
        </p:nvSpPr>
        <p:spPr>
          <a:xfrm>
            <a:off x="955353" y="1498600"/>
            <a:ext cx="5785301" cy="476647"/>
          </a:xfrm>
          <a:prstGeom prst="rect">
            <a:avLst/>
          </a:prstGeom>
          <a:noFill/>
          <a:ln/>
        </p:spPr>
        <p:txBody>
          <a:bodyPr wrap="square" lIns="0" tIns="0" rIns="0" bIns="0" rtlCol="0" anchor="t">
            <a:normAutofit/>
          </a:bodyPr>
          <a:lstStyle/>
          <a:p>
            <a:pPr algn="l" indent="0" marL="0">
              <a:lnSpc>
                <a:spcPct val="104000"/>
              </a:lnSpc>
              <a:buNone/>
            </a:pPr>
            <a:r>
              <a:rPr lang="en-US" sz="1500" spc="-30" kern="0" dirty="0">
                <a:solidFill>
                  <a:srgbClr val="272525"/>
                </a:solidFill>
                <a:latin typeface="Source Serif 4 SemiBold" pitchFamily="34" charset="0"/>
                <a:ea typeface="Source Serif 4 SemiBold" pitchFamily="34" charset="-122"/>
                <a:cs typeface="Source Serif 4 SemiBold" pitchFamily="34" charset="-120"/>
              </a:rPr>
              <a:t>Regular calendar apps only show dates and events (তারিখ ও ইভেন্টই দেখায়)</a:t>
            </a:r>
            <a:endParaRPr lang="en-US" sz="1500" dirty="0"/>
          </a:p>
        </p:txBody>
      </p:sp>
      <p:sp>
        <p:nvSpPr>
          <p:cNvPr id="7" name="Text 3"/>
          <p:cNvSpPr/>
          <p:nvPr/>
        </p:nvSpPr>
        <p:spPr>
          <a:xfrm>
            <a:off x="955353" y="2054225"/>
            <a:ext cx="5785301" cy="470098"/>
          </a:xfrm>
          <a:prstGeom prst="rect">
            <a:avLst/>
          </a:prstGeom>
          <a:noFill/>
          <a:ln/>
        </p:spPr>
        <p:txBody>
          <a:bodyPr wrap="square" lIns="0" tIns="0" rIns="0" bIns="0" rtlCol="0" anchor="t">
            <a:normAutofit/>
          </a:bodyPr>
          <a:lstStyle/>
          <a:p>
            <a:pPr algn="l" indent="0" marL="0">
              <a:lnSpc>
                <a:spcPct val="121000"/>
              </a:lnSpc>
              <a:buNone/>
            </a:pPr>
            <a:r>
              <a:rPr lang="en-US" sz="1250" spc="-26" kern="0" dirty="0">
                <a:solidFill>
                  <a:srgbClr val="272525"/>
                </a:solidFill>
                <a:latin typeface="Source Sans 3" pitchFamily="34" charset="0"/>
                <a:ea typeface="Source Sans 3" pitchFamily="34" charset="-122"/>
                <a:cs typeface="Source Sans 3" pitchFamily="34" charset="-120"/>
              </a:rPr>
              <a:t>They make it easy to track what is happening, but not to capture the full story. (কী ঘটছে তা ট্র্যাক করা সহজ, কিন্তু পুরো গল্প ধরে রাখা কঠিন।)</a:t>
            </a:r>
            <a:endParaRPr lang="en-US" sz="12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8086" y="2837061"/>
            <a:ext cx="6223638" cy="1622921"/>
          </a:xfrm>
          <a:prstGeom prst="rect">
            <a:avLst/>
          </a:prstGeom>
        </p:spPr>
      </p:pic>
      <p:sp>
        <p:nvSpPr>
          <p:cNvPr id="9" name="Text 4"/>
          <p:cNvSpPr/>
          <p:nvPr/>
        </p:nvSpPr>
        <p:spPr>
          <a:xfrm>
            <a:off x="955353" y="3018135"/>
            <a:ext cx="5785301" cy="476647"/>
          </a:xfrm>
          <a:prstGeom prst="rect">
            <a:avLst/>
          </a:prstGeom>
          <a:noFill/>
          <a:ln/>
        </p:spPr>
        <p:txBody>
          <a:bodyPr wrap="square" lIns="0" tIns="0" rIns="0" bIns="0" rtlCol="0" anchor="t">
            <a:normAutofit/>
          </a:bodyPr>
          <a:lstStyle/>
          <a:p>
            <a:pPr algn="l" indent="0" marL="0">
              <a:lnSpc>
                <a:spcPct val="104000"/>
              </a:lnSpc>
              <a:buNone/>
            </a:pPr>
            <a:r>
              <a:rPr lang="en-US" sz="1500" spc="-30" kern="0" dirty="0">
                <a:solidFill>
                  <a:srgbClr val="272525"/>
                </a:solidFill>
                <a:latin typeface="Source Serif 4 SemiBold" pitchFamily="34" charset="0"/>
                <a:ea typeface="Source Serif 4 SemiBold" pitchFamily="34" charset="-122"/>
                <a:cs typeface="Source Serif 4 SemiBold" pitchFamily="34" charset="-120"/>
              </a:rPr>
              <a:t>People want to write personal thoughts, draw, and keep memories (ব্যক্তিগত ভাবনা, আঁকাআঁকি ও স্মৃতি সংরক্ষণ)</a:t>
            </a:r>
            <a:endParaRPr lang="en-US" sz="1500" dirty="0"/>
          </a:p>
        </p:txBody>
      </p:sp>
      <p:sp>
        <p:nvSpPr>
          <p:cNvPr id="10" name="Text 5"/>
          <p:cNvSpPr/>
          <p:nvPr/>
        </p:nvSpPr>
        <p:spPr>
          <a:xfrm>
            <a:off x="955353" y="3573760"/>
            <a:ext cx="5785301" cy="705148"/>
          </a:xfrm>
          <a:prstGeom prst="rect">
            <a:avLst/>
          </a:prstGeom>
          <a:noFill/>
          <a:ln/>
        </p:spPr>
        <p:txBody>
          <a:bodyPr wrap="square" lIns="0" tIns="0" rIns="0" bIns="0" rtlCol="0" anchor="t">
            <a:normAutofit/>
          </a:bodyPr>
          <a:lstStyle/>
          <a:p>
            <a:pPr algn="l" indent="0" marL="0">
              <a:lnSpc>
                <a:spcPct val="121000"/>
              </a:lnSpc>
              <a:buNone/>
            </a:pPr>
            <a:r>
              <a:rPr lang="en-US" sz="1250" spc="-26" kern="0" dirty="0">
                <a:solidFill>
                  <a:srgbClr val="272525"/>
                </a:solidFill>
                <a:latin typeface="Source Sans 3" pitchFamily="34" charset="0"/>
                <a:ea typeface="Source Sans 3" pitchFamily="34" charset="-122"/>
                <a:cs typeface="Source Sans 3" pitchFamily="34" charset="-120"/>
              </a:rPr>
              <a:t>A special moment often includes more than a reminder — it includes feelings, sketches, and keepsakes. (একটি বিশেষ মুহূর্তে শুধু reminder নয়—সাথে থাকে অনুভূতি, sketch, আর স্মৃতি।)</a:t>
            </a:r>
            <a:endParaRPr lang="en-US" sz="12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8086" y="4591645"/>
            <a:ext cx="6223638" cy="1622921"/>
          </a:xfrm>
          <a:prstGeom prst="rect">
            <a:avLst/>
          </a:prstGeom>
        </p:spPr>
      </p:pic>
      <p:sp>
        <p:nvSpPr>
          <p:cNvPr id="12" name="Text 6"/>
          <p:cNvSpPr/>
          <p:nvPr/>
        </p:nvSpPr>
        <p:spPr>
          <a:xfrm>
            <a:off x="955353" y="4772720"/>
            <a:ext cx="5785301" cy="476647"/>
          </a:xfrm>
          <a:prstGeom prst="rect">
            <a:avLst/>
          </a:prstGeom>
          <a:noFill/>
          <a:ln/>
        </p:spPr>
        <p:txBody>
          <a:bodyPr wrap="square" lIns="0" tIns="0" rIns="0" bIns="0" rtlCol="0" anchor="t">
            <a:normAutofit/>
          </a:bodyPr>
          <a:lstStyle/>
          <a:p>
            <a:pPr algn="l" indent="0" marL="0">
              <a:lnSpc>
                <a:spcPct val="104000"/>
              </a:lnSpc>
              <a:buNone/>
            </a:pPr>
            <a:r>
              <a:rPr lang="en-US" sz="1500" spc="-30" kern="0" dirty="0">
                <a:solidFill>
                  <a:srgbClr val="272525"/>
                </a:solidFill>
                <a:latin typeface="Source Serif 4 SemiBold" pitchFamily="34" charset="0"/>
                <a:ea typeface="Source Serif 4 SemiBold" pitchFamily="34" charset="-122"/>
                <a:cs typeface="Source Serif 4 SemiBold" pitchFamily="34" charset="-120"/>
              </a:rPr>
              <a:t>Switching between calendar, notes, and reminder apps is inconvenient (calendar, notes, আর reminder app বদলানো ঝামেলার)</a:t>
            </a:r>
            <a:endParaRPr lang="en-US" sz="1500" dirty="0"/>
          </a:p>
        </p:txBody>
      </p:sp>
      <p:sp>
        <p:nvSpPr>
          <p:cNvPr id="13" name="Text 7"/>
          <p:cNvSpPr/>
          <p:nvPr/>
        </p:nvSpPr>
        <p:spPr>
          <a:xfrm>
            <a:off x="955353" y="5328345"/>
            <a:ext cx="5785301" cy="705148"/>
          </a:xfrm>
          <a:prstGeom prst="rect">
            <a:avLst/>
          </a:prstGeom>
          <a:noFill/>
          <a:ln/>
        </p:spPr>
        <p:txBody>
          <a:bodyPr wrap="square" lIns="0" tIns="0" rIns="0" bIns="0" rtlCol="0" anchor="t">
            <a:normAutofit/>
          </a:bodyPr>
          <a:lstStyle/>
          <a:p>
            <a:pPr algn="l" indent="0" marL="0">
              <a:lnSpc>
                <a:spcPct val="121000"/>
              </a:lnSpc>
              <a:buNone/>
            </a:pPr>
            <a:r>
              <a:rPr lang="en-US" sz="1250" b="1" spc="-26" kern="0" dirty="0">
                <a:solidFill>
                  <a:srgbClr val="272525"/>
                </a:solidFill>
                <a:latin typeface="Source Sans 3 Bold" pitchFamily="34" charset="0"/>
                <a:ea typeface="Source Sans 3 Bold" pitchFamily="34" charset="-122"/>
                <a:cs typeface="Source Sans 3 Bold" pitchFamily="34" charset="-120"/>
              </a:rPr>
              <a:t>Example:</a:t>
            </a:r>
            <a:pPr algn="l" indent="0" marL="0">
              <a:lnSpc>
                <a:spcPct val="121000"/>
              </a:lnSpc>
              <a:buNone/>
            </a:pPr>
            <a:r>
              <a:rPr lang="en-US" sz="1250" spc="-26" kern="0" dirty="0">
                <a:solidFill>
                  <a:srgbClr val="272525"/>
                </a:solidFill>
                <a:latin typeface="Source Sans 3" pitchFamily="34" charset="0"/>
                <a:ea typeface="Source Sans 3" pitchFamily="34" charset="-122"/>
                <a:cs typeface="Source Sans 3" pitchFamily="34" charset="-120"/>
              </a:rPr>
              <a:t> You want to remember a special day with a drawing and a reminder—but need three different apps. (</a:t>
            </a:r>
            <a:pPr algn="l" indent="0" marL="0">
              <a:lnSpc>
                <a:spcPct val="121000"/>
              </a:lnSpc>
              <a:buNone/>
            </a:pPr>
            <a:r>
              <a:rPr lang="en-US" sz="1250" b="1" spc="-26" kern="0" dirty="0">
                <a:solidFill>
                  <a:srgbClr val="272525"/>
                </a:solidFill>
                <a:latin typeface="Source Sans 3 Bold" pitchFamily="34" charset="0"/>
                <a:ea typeface="Source Sans 3 Bold" pitchFamily="34" charset="-122"/>
                <a:cs typeface="Source Sans 3 Bold" pitchFamily="34" charset="-120"/>
              </a:rPr>
              <a:t>উদাহরণ:</a:t>
            </a:r>
            <a:pPr algn="l" indent="0" marL="0">
              <a:lnSpc>
                <a:spcPct val="121000"/>
              </a:lnSpc>
              <a:buNone/>
            </a:pPr>
            <a:r>
              <a:rPr lang="en-US" sz="1250" spc="-26" kern="0" dirty="0">
                <a:solidFill>
                  <a:srgbClr val="272525"/>
                </a:solidFill>
                <a:latin typeface="Source Sans 3" pitchFamily="34" charset="0"/>
                <a:ea typeface="Source Sans 3" pitchFamily="34" charset="-122"/>
                <a:cs typeface="Source Sans 3" pitchFamily="34" charset="-120"/>
              </a:rPr>
              <a:t> একটি special day-কে drawing ও reminder-সহ মনে রাখতে চান—কিন্তু লাগে তিনটি আলাদা app.)</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8086" y="1697831"/>
            <a:ext cx="3462152" cy="3462238"/>
          </a:xfrm>
          <a:prstGeom prst="rect">
            <a:avLst/>
          </a:prstGeom>
        </p:spPr>
      </p:pic>
      <p:sp>
        <p:nvSpPr>
          <p:cNvPr id="3" name="Text 0"/>
          <p:cNvSpPr/>
          <p:nvPr/>
        </p:nvSpPr>
        <p:spPr>
          <a:xfrm>
            <a:off x="4653144" y="926604"/>
            <a:ext cx="6846716" cy="586680"/>
          </a:xfrm>
          <a:prstGeom prst="rect">
            <a:avLst/>
          </a:prstGeom>
          <a:noFill/>
          <a:ln/>
        </p:spPr>
        <p:txBody>
          <a:bodyPr wrap="none" lIns="0" tIns="0" rIns="0" bIns="0" rtlCol="0" anchor="t"/>
          <a:lstStyle/>
          <a:p>
            <a:pPr algn="l" indent="0" marL="0">
              <a:lnSpc>
                <a:spcPct val="104000"/>
              </a:lnSpc>
              <a:buNone/>
            </a:pPr>
            <a:r>
              <a:rPr lang="en-US" sz="3650" spc="-74" kern="0" dirty="0">
                <a:solidFill>
                  <a:srgbClr val="D73AD7"/>
                </a:solidFill>
                <a:latin typeface="Source Serif 4 SemiBold" pitchFamily="34" charset="0"/>
                <a:ea typeface="Source Serif 4 SemiBold" pitchFamily="34" charset="-122"/>
                <a:cs typeface="Source Serif 4 SemiBold" pitchFamily="34" charset="-120"/>
              </a:rPr>
              <a:t>The Solution (সমাধান)</a:t>
            </a:r>
            <a:endParaRPr lang="en-US" sz="3650" dirty="0"/>
          </a:p>
        </p:txBody>
      </p:sp>
      <p:sp>
        <p:nvSpPr>
          <p:cNvPr id="4" name="Text 1"/>
          <p:cNvSpPr/>
          <p:nvPr/>
        </p:nvSpPr>
        <p:spPr>
          <a:xfrm>
            <a:off x="4653144" y="1712714"/>
            <a:ext cx="6846716" cy="957560"/>
          </a:xfrm>
          <a:prstGeom prst="rect">
            <a:avLst/>
          </a:prstGeom>
          <a:noFill/>
          <a:ln/>
        </p:spPr>
        <p:txBody>
          <a:bodyPr wrap="square" lIns="0" tIns="0" rIns="0" bIns="0" rtlCol="0" anchor="t">
            <a:normAutofit/>
          </a:bodyPr>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DoodleDates combines calendar, handwriting, sticky notes, and reminders in one app. (DoodleDates একটি অ্যাপে ক্যালেন্ডার, হাতে লেখা, স্টিকি নোট, এবং রিমাইন্ডার একসাথে নিয়ে আসে।)</a:t>
            </a:r>
            <a:endParaRPr lang="en-US" sz="1550" dirty="0"/>
          </a:p>
        </p:txBody>
      </p:sp>
      <p:sp>
        <p:nvSpPr>
          <p:cNvPr id="5" name="Text 2"/>
          <p:cNvSpPr/>
          <p:nvPr/>
        </p:nvSpPr>
        <p:spPr>
          <a:xfrm>
            <a:off x="4653144" y="2849761"/>
            <a:ext cx="6846716" cy="2054622"/>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Open a month and use it like a personal digital diary page. (একটি মাস খুলে সেটিকে ব্যক্তিগত digital diary page হিসেবে ব্যবহার করুন।)</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Write, draw, add notes, and set reminders—all in one place. (এক জায়গাতেই লিখুন, আঁকুন, নোট যোগ করুন, এবং রিমাইন্ডার সেট করুন।)</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Everything stays on your device, offline and private. (সবকিছু আপনার ডিভাইসেই থাকে—offline এবং private.)</a:t>
            </a:r>
            <a:endParaRPr lang="en-US" sz="1550" dirty="0"/>
          </a:p>
        </p:txBody>
      </p:sp>
      <p:sp>
        <p:nvSpPr>
          <p:cNvPr id="6" name="Shape 3"/>
          <p:cNvSpPr/>
          <p:nvPr/>
        </p:nvSpPr>
        <p:spPr>
          <a:xfrm>
            <a:off x="4653144" y="5128716"/>
            <a:ext cx="6846716" cy="777776"/>
          </a:xfrm>
          <a:prstGeom prst="roundRect">
            <a:avLst>
              <a:gd name="adj" fmla="val 10772"/>
            </a:avLst>
          </a:prstGeom>
          <a:solidFill>
            <a:srgbClr val="B6FCB8"/>
          </a:solidFill>
          <a:ln/>
        </p:spPr>
      </p:sp>
      <p:pic>
        <p:nvPicPr>
          <p:cNvPr id="7" name="Image 1" descr="preencoded.png">    </p:cNvPr>
          <p:cNvPicPr>
            <a:picLocks noChangeAspect="1"/>
          </p:cNvPicPr>
          <p:nvPr/>
        </p:nvPicPr>
        <p:blipFill>
          <a:blip r:embed="rId2"/>
          <a:stretch>
            <a:fillRect/>
          </a:stretch>
        </p:blipFill>
        <p:spPr>
          <a:xfrm>
            <a:off x="4852568" y="5419328"/>
            <a:ext cx="249330" cy="199430"/>
          </a:xfrm>
          <a:prstGeom prst="rect">
            <a:avLst/>
          </a:prstGeom>
        </p:spPr>
      </p:pic>
      <p:sp>
        <p:nvSpPr>
          <p:cNvPr id="8" name="Text 4"/>
          <p:cNvSpPr/>
          <p:nvPr/>
        </p:nvSpPr>
        <p:spPr>
          <a:xfrm>
            <a:off x="5301324" y="5358011"/>
            <a:ext cx="6608696" cy="319187"/>
          </a:xfrm>
          <a:prstGeom prst="rect">
            <a:avLst/>
          </a:prstGeom>
          <a:noFill/>
          <a:ln/>
        </p:spPr>
        <p:txBody>
          <a:bodyPr wrap="none" lIns="0" tIns="0" rIns="0" bIns="0" rtlCol="0" anchor="t"/>
          <a:lstStyle/>
          <a:p>
            <a:pPr algn="l" indent="0" marL="0">
              <a:lnSpc>
                <a:spcPct val="133000"/>
              </a:lnSpc>
              <a:buNone/>
            </a:pPr>
            <a:r>
              <a:rPr lang="en-US" sz="1550" spc="-31" kern="0" dirty="0">
                <a:solidFill>
                  <a:srgbClr val="000000"/>
                </a:solidFill>
                <a:latin typeface="Source Sans 3" pitchFamily="34" charset="0"/>
                <a:ea typeface="Source Sans 3" pitchFamily="34" charset="-122"/>
                <a:cs typeface="Source Sans 3" pitchFamily="34" charset="-120"/>
              </a:rPr>
              <a:t>No server, no internet required. (সার্ভার নেই, ইন্টারনেটও প্রয়োজন নেই।)</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730845"/>
            <a:ext cx="10795524" cy="586680"/>
          </a:xfrm>
          <a:prstGeom prst="rect">
            <a:avLst/>
          </a:prstGeom>
          <a:noFill/>
          <a:ln/>
        </p:spPr>
        <p:txBody>
          <a:bodyPr wrap="none" lIns="0" tIns="0" rIns="0" bIns="0" rtlCol="0" anchor="t"/>
          <a:lstStyle/>
          <a:p>
            <a:pPr algn="l" indent="0" marL="0">
              <a:lnSpc>
                <a:spcPct val="104000"/>
              </a:lnSpc>
              <a:buNone/>
            </a:pPr>
            <a:r>
              <a:rPr lang="en-US" sz="3650" spc="-74" kern="0" dirty="0">
                <a:solidFill>
                  <a:srgbClr val="D73AD7"/>
                </a:solidFill>
                <a:latin typeface="Source Serif 4 SemiBold" pitchFamily="34" charset="0"/>
                <a:ea typeface="Source Serif 4 SemiBold" pitchFamily="34" charset="-122"/>
                <a:cs typeface="Source Serif 4 SemiBold" pitchFamily="34" charset="-120"/>
              </a:rPr>
              <a:t>প্রধান ফিচারস (Main Features)</a:t>
            </a:r>
            <a:endParaRPr lang="en-US" sz="36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716484"/>
            <a:ext cx="398949" cy="398959"/>
          </a:xfrm>
          <a:prstGeom prst="rect">
            <a:avLst/>
          </a:prstGeom>
        </p:spPr>
      </p:pic>
      <p:sp>
        <p:nvSpPr>
          <p:cNvPr id="4" name="Text 1"/>
          <p:cNvSpPr/>
          <p:nvPr/>
        </p:nvSpPr>
        <p:spPr>
          <a:xfrm>
            <a:off x="698086" y="2364780"/>
            <a:ext cx="5273047"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Calendar &amp; Drawing (ক্যালেন্ডার ও ড্রয়িং)</a:t>
            </a:r>
            <a:endParaRPr lang="en-US" sz="1800" dirty="0"/>
          </a:p>
        </p:txBody>
      </p:sp>
      <p:sp>
        <p:nvSpPr>
          <p:cNvPr id="5" name="Text 2"/>
          <p:cNvSpPr/>
          <p:nvPr/>
        </p:nvSpPr>
        <p:spPr>
          <a:xfrm>
            <a:off x="698086" y="2777728"/>
            <a:ext cx="5273047" cy="638373"/>
          </a:xfrm>
          <a:prstGeom prst="rect">
            <a:avLst/>
          </a:prstGeom>
          <a:noFill/>
          <a:ln/>
        </p:spPr>
        <p:txBody>
          <a:bodyPr wrap="square" lIns="0" tIns="0" rIns="0" bIns="0" rtlCol="0" anchor="t">
            <a:normAutofit/>
          </a:bodyPr>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Monthly view with handwriting and an eraser. (মাসভিত্তিক ভিউ, হাতে লেখা, এবং ইরেজার)</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20463" y="1716484"/>
            <a:ext cx="398949" cy="398959"/>
          </a:xfrm>
          <a:prstGeom prst="rect">
            <a:avLst/>
          </a:prstGeom>
        </p:spPr>
      </p:pic>
      <p:sp>
        <p:nvSpPr>
          <p:cNvPr id="7" name="Text 3"/>
          <p:cNvSpPr/>
          <p:nvPr/>
        </p:nvSpPr>
        <p:spPr>
          <a:xfrm>
            <a:off x="6220463" y="2364780"/>
            <a:ext cx="5273146"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Sticky Notes (স্টিকি নোট)</a:t>
            </a:r>
            <a:endParaRPr lang="en-US" sz="1800" dirty="0"/>
          </a:p>
        </p:txBody>
      </p:sp>
      <p:sp>
        <p:nvSpPr>
          <p:cNvPr id="8" name="Text 4"/>
          <p:cNvSpPr/>
          <p:nvPr/>
        </p:nvSpPr>
        <p:spPr>
          <a:xfrm>
            <a:off x="6220463" y="2777728"/>
            <a:ext cx="5273146" cy="638373"/>
          </a:xfrm>
          <a:prstGeom prst="rect">
            <a:avLst/>
          </a:prstGeom>
          <a:noFill/>
          <a:ln/>
        </p:spPr>
        <p:txBody>
          <a:bodyPr wrap="square" lIns="0" tIns="0" rIns="0" bIns="0" rtlCol="0" anchor="t">
            <a:normAutofit/>
          </a:bodyPr>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Create, move, resize, and format text notes. (টেক্সট নোট তৈরি, সরানো, রিসাইজ, ও ফরম্যাট করুন)</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3815060"/>
            <a:ext cx="398949" cy="398959"/>
          </a:xfrm>
          <a:prstGeom prst="rect">
            <a:avLst/>
          </a:prstGeom>
        </p:spPr>
      </p:pic>
      <p:sp>
        <p:nvSpPr>
          <p:cNvPr id="10" name="Text 5"/>
          <p:cNvSpPr/>
          <p:nvPr/>
        </p:nvSpPr>
        <p:spPr>
          <a:xfrm>
            <a:off x="698086" y="4463355"/>
            <a:ext cx="5273047"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Reminders (রিমাইন্ডার)</a:t>
            </a:r>
            <a:endParaRPr lang="en-US" sz="1800" dirty="0"/>
          </a:p>
        </p:txBody>
      </p:sp>
      <p:sp>
        <p:nvSpPr>
          <p:cNvPr id="11" name="Text 6"/>
          <p:cNvSpPr/>
          <p:nvPr/>
        </p:nvSpPr>
        <p:spPr>
          <a:xfrm>
            <a:off x="698086" y="4876304"/>
            <a:ext cx="5273047" cy="638373"/>
          </a:xfrm>
          <a:prstGeom prst="rect">
            <a:avLst/>
          </a:prstGeom>
          <a:noFill/>
          <a:ln/>
        </p:spPr>
        <p:txBody>
          <a:bodyPr wrap="square" lIns="0" tIns="0" rIns="0" bIns="0" rtlCol="0" anchor="t">
            <a:normAutofit/>
          </a:bodyPr>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Set alarms with custom ringtones and vibration. (কাস্টম রিংটোন ও ভাইব্রেশনসহ অ্যালার্ম সেট করুন)</a:t>
            </a:r>
            <a:endParaRPr lang="en-US" sz="15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0463" y="3815060"/>
            <a:ext cx="398949" cy="398959"/>
          </a:xfrm>
          <a:prstGeom prst="rect">
            <a:avLst/>
          </a:prstGeom>
        </p:spPr>
      </p:pic>
      <p:sp>
        <p:nvSpPr>
          <p:cNvPr id="13" name="Text 7"/>
          <p:cNvSpPr/>
          <p:nvPr/>
        </p:nvSpPr>
        <p:spPr>
          <a:xfrm>
            <a:off x="6220463" y="4463355"/>
            <a:ext cx="5273146" cy="586581"/>
          </a:xfrm>
          <a:prstGeom prst="rect">
            <a:avLst/>
          </a:prstGeom>
          <a:noFill/>
          <a:ln/>
        </p:spPr>
        <p:txBody>
          <a:bodyPr wrap="square" lIns="0" tIns="0" rIns="0" bIns="0" rtlCol="0" anchor="t">
            <a:normAutofit/>
          </a:bodyPr>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Customization &amp; Backup (কাস্টমাইজেশন ও ব্যাকআপ)</a:t>
            </a:r>
            <a:endParaRPr lang="en-US" sz="1800" dirty="0"/>
          </a:p>
        </p:txBody>
      </p:sp>
      <p:sp>
        <p:nvSpPr>
          <p:cNvPr id="14" name="Text 8"/>
          <p:cNvSpPr/>
          <p:nvPr/>
        </p:nvSpPr>
        <p:spPr>
          <a:xfrm>
            <a:off x="6220463" y="5169595"/>
            <a:ext cx="5273146" cy="957560"/>
          </a:xfrm>
          <a:prstGeom prst="rect">
            <a:avLst/>
          </a:prstGeom>
          <a:noFill/>
          <a:ln/>
        </p:spPr>
        <p:txBody>
          <a:bodyPr wrap="square" lIns="0" tIns="0" rIns="0" bIns="0" rtlCol="0" anchor="t">
            <a:normAutofit/>
          </a:bodyPr>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Change themes and colors, and export/import diary data as JSON files. (থিম ও রং পরিবর্তন করুন, এবং ডায়েরি ডেটা JSON ফাইলে export/import করুন)</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563662"/>
            <a:ext cx="10795524" cy="696714"/>
          </a:xfrm>
          <a:prstGeom prst="rect">
            <a:avLst/>
          </a:prstGeom>
          <a:noFill/>
          <a:ln/>
        </p:spPr>
        <p:txBody>
          <a:bodyPr wrap="square" lIns="0" tIns="0" rIns="0" bIns="0" rtlCol="0" anchor="t">
            <a:normAutofit/>
          </a:bodyPr>
          <a:lstStyle/>
          <a:p>
            <a:pPr algn="l" indent="0" marL="0">
              <a:lnSpc>
                <a:spcPct val="104000"/>
              </a:lnSpc>
              <a:buNone/>
            </a:pPr>
            <a:r>
              <a:rPr lang="en-US" sz="2150" spc="-44" kern="0" dirty="0">
                <a:solidFill>
                  <a:srgbClr val="D73AD7"/>
                </a:solidFill>
                <a:latin typeface="Source Serif 4 SemiBold" pitchFamily="34" charset="0"/>
                <a:ea typeface="Source Serif 4 SemiBold" pitchFamily="34" charset="-122"/>
                <a:cs typeface="Source Serif 4 SemiBold" pitchFamily="34" charset="-120"/>
              </a:rPr>
              <a:t>How Users Interact with DoodleDates (ডুডলডেটসের সাথে ব্যবহারকারীরা কীভাবে ইন্টারঅ্যাক্ট করে)</a:t>
            </a:r>
            <a:endParaRPr lang="en-US" sz="2150" dirty="0"/>
          </a:p>
        </p:txBody>
      </p:sp>
      <p:pic>
        <p:nvPicPr>
          <p:cNvPr id="3" name="Image 0" descr="preencoded.png">    </p:cNvPr>
          <p:cNvPicPr>
            <a:picLocks noChangeAspect="1"/>
          </p:cNvPicPr>
          <p:nvPr/>
        </p:nvPicPr>
        <p:blipFill>
          <a:blip r:embed="rId1"/>
          <a:stretch>
            <a:fillRect/>
          </a:stretch>
        </p:blipFill>
        <p:spPr>
          <a:xfrm>
            <a:off x="698086" y="1400969"/>
            <a:ext cx="10795524" cy="4663182"/>
          </a:xfrm>
          <a:prstGeom prst="rect">
            <a:avLst/>
          </a:prstGeom>
        </p:spPr>
      </p:pic>
      <p:sp>
        <p:nvSpPr>
          <p:cNvPr id="4" name="Text 1"/>
          <p:cNvSpPr/>
          <p:nvPr/>
        </p:nvSpPr>
        <p:spPr>
          <a:xfrm>
            <a:off x="3274175" y="4451265"/>
            <a:ext cx="1602943" cy="549195"/>
          </a:xfrm>
          <a:prstGeom prst="rect">
            <a:avLst/>
          </a:prstGeom>
          <a:noFill/>
          <a:ln/>
        </p:spPr>
        <p:txBody>
          <a:bodyPr wrap="square" lIns="0" tIns="0" rIns="0" bIns="0" rtlCol="0" anchor="t">
            <a:normAutofit/>
          </a:bodyPr>
          <a:lstStyle/>
          <a:p>
            <a:pPr algn="ctr" indent="0" marL="0">
              <a:lnSpc>
                <a:spcPct val="104000"/>
              </a:lnSpc>
              <a:buNone/>
            </a:pPr>
            <a:r>
              <a:rPr lang="en-US" sz="1700" spc="-35" kern="0" dirty="0">
                <a:solidFill>
                  <a:srgbClr val="272525"/>
                </a:solidFill>
                <a:latin typeface="Source Serif 4 SemiBold" pitchFamily="34" charset="0"/>
                <a:ea typeface="Source Serif 4 SemiBold" pitchFamily="34" charset="-122"/>
                <a:cs typeface="Source Serif 4 SemiBold" pitchFamily="34" charset="-120"/>
              </a:rPr>
              <a:t>Choose Year (বছর নির্বাচন)</a:t>
            </a:r>
            <a:endParaRPr lang="en-US" sz="1700" dirty="0"/>
          </a:p>
        </p:txBody>
      </p:sp>
      <p:sp>
        <p:nvSpPr>
          <p:cNvPr id="5" name="Text 2"/>
          <p:cNvSpPr/>
          <p:nvPr/>
        </p:nvSpPr>
        <p:spPr>
          <a:xfrm>
            <a:off x="3274175" y="5083505"/>
            <a:ext cx="1602943" cy="558116"/>
          </a:xfrm>
          <a:prstGeom prst="rect">
            <a:avLst/>
          </a:prstGeom>
          <a:noFill/>
          <a:ln/>
        </p:spPr>
        <p:txBody>
          <a:bodyPr wrap="square" lIns="0" tIns="0" rIns="0" bIns="0" rtlCol="0" anchor="t">
            <a:normAutofit/>
          </a:bodyPr>
          <a:lstStyle/>
          <a:p>
            <a:pPr algn="ctr" indent="0" marL="0">
              <a:lnSpc>
                <a:spcPct val="83000"/>
              </a:lnSpc>
              <a:buNone/>
            </a:pPr>
            <a:r>
              <a:rPr lang="en-US" sz="1450" spc="-30" kern="0" dirty="0">
                <a:solidFill>
                  <a:srgbClr val="272525"/>
                </a:solidFill>
                <a:latin typeface="Source Sans 3" pitchFamily="34" charset="0"/>
                <a:ea typeface="Source Sans 3" pitchFamily="34" charset="-122"/>
                <a:cs typeface="Source Sans 3" pitchFamily="34" charset="-120"/>
              </a:rPr>
              <a:t>Select the relevant year (প্রাসঙ্গিক বছর বেছে নিন)</a:t>
            </a:r>
            <a:endParaRPr lang="en-US" sz="1450" dirty="0"/>
          </a:p>
        </p:txBody>
      </p:sp>
      <p:sp>
        <p:nvSpPr>
          <p:cNvPr id="6" name="Text 3"/>
          <p:cNvSpPr/>
          <p:nvPr/>
        </p:nvSpPr>
        <p:spPr>
          <a:xfrm>
            <a:off x="7390118" y="4451265"/>
            <a:ext cx="1602942" cy="549195"/>
          </a:xfrm>
          <a:prstGeom prst="rect">
            <a:avLst/>
          </a:prstGeom>
          <a:noFill/>
          <a:ln/>
        </p:spPr>
        <p:txBody>
          <a:bodyPr wrap="square" lIns="0" tIns="0" rIns="0" bIns="0" rtlCol="0" anchor="t">
            <a:normAutofit/>
          </a:bodyPr>
          <a:lstStyle/>
          <a:p>
            <a:pPr algn="ctr" indent="0" marL="0">
              <a:lnSpc>
                <a:spcPct val="104000"/>
              </a:lnSpc>
              <a:buNone/>
            </a:pPr>
            <a:r>
              <a:rPr lang="en-US" sz="1700" spc="-35" kern="0" dirty="0">
                <a:solidFill>
                  <a:srgbClr val="D73AD7"/>
                </a:solidFill>
                <a:latin typeface="Source Serif 4 SemiBold" pitchFamily="34" charset="0"/>
                <a:ea typeface="Source Serif 4 SemiBold" pitchFamily="34" charset="-122"/>
                <a:cs typeface="Source Serif 4 SemiBold" pitchFamily="34" charset="-120"/>
              </a:rPr>
              <a:t>Draw or Write (আঁকুন বা লিখুন)</a:t>
            </a:r>
            <a:endParaRPr lang="en-US" sz="1700" dirty="0"/>
          </a:p>
        </p:txBody>
      </p:sp>
      <p:sp>
        <p:nvSpPr>
          <p:cNvPr id="7" name="Text 4"/>
          <p:cNvSpPr/>
          <p:nvPr/>
        </p:nvSpPr>
        <p:spPr>
          <a:xfrm>
            <a:off x="7390118" y="5083505"/>
            <a:ext cx="1602942" cy="558116"/>
          </a:xfrm>
          <a:prstGeom prst="rect">
            <a:avLst/>
          </a:prstGeom>
          <a:noFill/>
          <a:ln/>
        </p:spPr>
        <p:txBody>
          <a:bodyPr wrap="square" lIns="0" tIns="0" rIns="0" bIns="0" rtlCol="0" anchor="t">
            <a:normAutofit/>
          </a:bodyPr>
          <a:lstStyle/>
          <a:p>
            <a:pPr algn="ctr" indent="0" marL="0">
              <a:lnSpc>
                <a:spcPct val="83000"/>
              </a:lnSpc>
              <a:buNone/>
            </a:pPr>
            <a:r>
              <a:rPr lang="en-US" sz="1450" spc="-30" kern="0" dirty="0">
                <a:solidFill>
                  <a:srgbClr val="272525"/>
                </a:solidFill>
                <a:latin typeface="Source Sans 3" pitchFamily="34" charset="0"/>
                <a:ea typeface="Source Sans 3" pitchFamily="34" charset="-122"/>
                <a:cs typeface="Source Sans 3" pitchFamily="34" charset="-120"/>
              </a:rPr>
              <a:t>Create a daily entry (দৈনিক এন্ট্রি তৈরি করুন)</a:t>
            </a:r>
            <a:endParaRPr lang="en-US" sz="1450" dirty="0"/>
          </a:p>
        </p:txBody>
      </p:sp>
      <p:sp>
        <p:nvSpPr>
          <p:cNvPr id="8" name="Text 5"/>
          <p:cNvSpPr/>
          <p:nvPr/>
        </p:nvSpPr>
        <p:spPr>
          <a:xfrm>
            <a:off x="1221313" y="1821745"/>
            <a:ext cx="1602942" cy="549196"/>
          </a:xfrm>
          <a:prstGeom prst="rect">
            <a:avLst/>
          </a:prstGeom>
          <a:noFill/>
          <a:ln/>
        </p:spPr>
        <p:txBody>
          <a:bodyPr wrap="square" lIns="0" tIns="0" rIns="0" bIns="0" rtlCol="0" anchor="t">
            <a:normAutofit/>
          </a:bodyPr>
          <a:lstStyle/>
          <a:p>
            <a:pPr algn="ctr" indent="0" marL="0">
              <a:lnSpc>
                <a:spcPct val="104000"/>
              </a:lnSpc>
              <a:buNone/>
            </a:pPr>
            <a:r>
              <a:rPr lang="en-US" sz="1700" spc="-35" kern="0" dirty="0">
                <a:solidFill>
                  <a:srgbClr val="272525"/>
                </a:solidFill>
                <a:latin typeface="Source Serif 4 SemiBold" pitchFamily="34" charset="0"/>
                <a:ea typeface="Source Serif 4 SemiBold" pitchFamily="34" charset="-122"/>
                <a:cs typeface="Source Serif 4 SemiBold" pitchFamily="34" charset="-120"/>
              </a:rPr>
              <a:t>Open App (অ্যাপ খুলুন)</a:t>
            </a:r>
            <a:endParaRPr lang="en-US" sz="1700" dirty="0"/>
          </a:p>
        </p:txBody>
      </p:sp>
      <p:sp>
        <p:nvSpPr>
          <p:cNvPr id="9" name="Text 6"/>
          <p:cNvSpPr/>
          <p:nvPr/>
        </p:nvSpPr>
        <p:spPr>
          <a:xfrm>
            <a:off x="1221313" y="2453984"/>
            <a:ext cx="1602942" cy="372077"/>
          </a:xfrm>
          <a:prstGeom prst="rect">
            <a:avLst/>
          </a:prstGeom>
          <a:noFill/>
          <a:ln/>
        </p:spPr>
        <p:txBody>
          <a:bodyPr wrap="square" lIns="0" tIns="0" rIns="0" bIns="0" rtlCol="0" anchor="t">
            <a:normAutofit/>
          </a:bodyPr>
          <a:lstStyle/>
          <a:p>
            <a:pPr algn="ctr" indent="0" marL="0">
              <a:lnSpc>
                <a:spcPct val="83000"/>
              </a:lnSpc>
              <a:buNone/>
            </a:pPr>
            <a:r>
              <a:rPr lang="en-US" sz="1450" spc="-30" kern="0" dirty="0">
                <a:solidFill>
                  <a:srgbClr val="272525"/>
                </a:solidFill>
                <a:latin typeface="Source Sans 3" pitchFamily="34" charset="0"/>
                <a:ea typeface="Source Sans 3" pitchFamily="34" charset="-122"/>
                <a:cs typeface="Source Sans 3" pitchFamily="34" charset="-120"/>
              </a:rPr>
              <a:t>Launch the app (অ্যাপ চালু করুন)</a:t>
            </a:r>
            <a:endParaRPr lang="en-US" sz="1450" dirty="0"/>
          </a:p>
        </p:txBody>
      </p:sp>
      <p:sp>
        <p:nvSpPr>
          <p:cNvPr id="10" name="Text 7"/>
          <p:cNvSpPr/>
          <p:nvPr/>
        </p:nvSpPr>
        <p:spPr>
          <a:xfrm>
            <a:off x="9381834" y="1821745"/>
            <a:ext cx="1602942" cy="823793"/>
          </a:xfrm>
          <a:prstGeom prst="rect">
            <a:avLst/>
          </a:prstGeom>
          <a:noFill/>
          <a:ln/>
        </p:spPr>
        <p:txBody>
          <a:bodyPr wrap="square" lIns="0" tIns="0" rIns="0" bIns="0" rtlCol="0" anchor="t">
            <a:normAutofit/>
          </a:bodyPr>
          <a:lstStyle/>
          <a:p>
            <a:pPr algn="ctr" indent="0" marL="0">
              <a:lnSpc>
                <a:spcPct val="104000"/>
              </a:lnSpc>
              <a:buNone/>
            </a:pPr>
            <a:r>
              <a:rPr lang="en-US" sz="1700" spc="-35" kern="0" dirty="0">
                <a:solidFill>
                  <a:srgbClr val="272525"/>
                </a:solidFill>
                <a:latin typeface="Source Serif 4 SemiBold" pitchFamily="34" charset="0"/>
                <a:ea typeface="Source Serif 4 SemiBold" pitchFamily="34" charset="-122"/>
                <a:cs typeface="Source Serif 4 SemiBold" pitchFamily="34" charset="-120"/>
              </a:rPr>
              <a:t>Set Reminder (রিমাইন্ডার সেট করুন)</a:t>
            </a:r>
            <a:endParaRPr lang="en-US" sz="1700" dirty="0"/>
          </a:p>
        </p:txBody>
      </p:sp>
      <p:sp>
        <p:nvSpPr>
          <p:cNvPr id="11" name="Text 8"/>
          <p:cNvSpPr/>
          <p:nvPr/>
        </p:nvSpPr>
        <p:spPr>
          <a:xfrm>
            <a:off x="9381834" y="2728582"/>
            <a:ext cx="1602942" cy="744155"/>
          </a:xfrm>
          <a:prstGeom prst="rect">
            <a:avLst/>
          </a:prstGeom>
          <a:noFill/>
          <a:ln/>
        </p:spPr>
        <p:txBody>
          <a:bodyPr wrap="square" lIns="0" tIns="0" rIns="0" bIns="0" rtlCol="0" anchor="t">
            <a:normAutofit/>
          </a:bodyPr>
          <a:lstStyle/>
          <a:p>
            <a:pPr algn="ctr" indent="0" marL="0">
              <a:lnSpc>
                <a:spcPct val="83000"/>
              </a:lnSpc>
              <a:buNone/>
            </a:pPr>
            <a:r>
              <a:rPr lang="en-US" sz="1450" spc="-30" kern="0" dirty="0">
                <a:solidFill>
                  <a:srgbClr val="272525"/>
                </a:solidFill>
                <a:latin typeface="Source Sans 3" pitchFamily="34" charset="0"/>
                <a:ea typeface="Source Sans 3" pitchFamily="34" charset="-122"/>
                <a:cs typeface="Source Sans 3" pitchFamily="34" charset="-120"/>
              </a:rPr>
              <a:t>Add a note to revisit later (পরে আবার দেখার জন্য একটি নোট যোগ করুন)</a:t>
            </a:r>
            <a:endParaRPr lang="en-US" sz="1450" dirty="0"/>
          </a:p>
        </p:txBody>
      </p:sp>
      <p:sp>
        <p:nvSpPr>
          <p:cNvPr id="12" name="Text 9"/>
          <p:cNvSpPr/>
          <p:nvPr/>
        </p:nvSpPr>
        <p:spPr>
          <a:xfrm>
            <a:off x="5357692" y="1821745"/>
            <a:ext cx="1602942" cy="549196"/>
          </a:xfrm>
          <a:prstGeom prst="rect">
            <a:avLst/>
          </a:prstGeom>
          <a:noFill/>
          <a:ln/>
        </p:spPr>
        <p:txBody>
          <a:bodyPr wrap="square" lIns="0" tIns="0" rIns="0" bIns="0" rtlCol="0" anchor="t">
            <a:normAutofit/>
          </a:bodyPr>
          <a:lstStyle/>
          <a:p>
            <a:pPr algn="ctr" indent="0" marL="0">
              <a:lnSpc>
                <a:spcPct val="104000"/>
              </a:lnSpc>
              <a:buNone/>
            </a:pPr>
            <a:r>
              <a:rPr lang="en-US" sz="1700" spc="-35" kern="0" dirty="0">
                <a:solidFill>
                  <a:srgbClr val="D73AD7"/>
                </a:solidFill>
                <a:latin typeface="Source Serif 4 SemiBold" pitchFamily="34" charset="0"/>
                <a:ea typeface="Source Serif 4 SemiBold" pitchFamily="34" charset="-122"/>
                <a:cs typeface="Source Serif 4 SemiBold" pitchFamily="34" charset="-120"/>
              </a:rPr>
              <a:t>Select Month (মাস নির্বাচন)</a:t>
            </a:r>
            <a:endParaRPr lang="en-US" sz="1700" dirty="0"/>
          </a:p>
        </p:txBody>
      </p:sp>
      <p:sp>
        <p:nvSpPr>
          <p:cNvPr id="13" name="Text 10"/>
          <p:cNvSpPr/>
          <p:nvPr/>
        </p:nvSpPr>
        <p:spPr>
          <a:xfrm>
            <a:off x="5357692" y="2453984"/>
            <a:ext cx="1602942" cy="558116"/>
          </a:xfrm>
          <a:prstGeom prst="rect">
            <a:avLst/>
          </a:prstGeom>
          <a:noFill/>
          <a:ln/>
        </p:spPr>
        <p:txBody>
          <a:bodyPr wrap="square" lIns="0" tIns="0" rIns="0" bIns="0" rtlCol="0" anchor="t">
            <a:normAutofit/>
          </a:bodyPr>
          <a:lstStyle/>
          <a:p>
            <a:pPr algn="ctr" indent="0" marL="0">
              <a:lnSpc>
                <a:spcPct val="83000"/>
              </a:lnSpc>
              <a:buNone/>
            </a:pPr>
            <a:r>
              <a:rPr lang="en-US" sz="1450" spc="-30" kern="0" dirty="0">
                <a:solidFill>
                  <a:srgbClr val="272525"/>
                </a:solidFill>
                <a:latin typeface="Source Sans 3" pitchFamily="34" charset="0"/>
                <a:ea typeface="Source Sans 3" pitchFamily="34" charset="-122"/>
                <a:cs typeface="Source Sans 3" pitchFamily="34" charset="-120"/>
              </a:rPr>
              <a:t>Choose the month you want (যে মাসটি চান তা বেছে নিন)</a:t>
            </a:r>
            <a:endParaRPr lang="en-US" sz="1450" dirty="0"/>
          </a:p>
        </p:txBody>
      </p:sp>
      <p:sp>
        <p:nvSpPr>
          <p:cNvPr id="14" name="Text 11"/>
          <p:cNvSpPr/>
          <p:nvPr/>
        </p:nvSpPr>
        <p:spPr>
          <a:xfrm>
            <a:off x="698086" y="6143228"/>
            <a:ext cx="11405108" cy="151011"/>
          </a:xfrm>
          <a:prstGeom prst="rect">
            <a:avLst/>
          </a:prstGeom>
          <a:noFill/>
          <a:ln/>
        </p:spPr>
        <p:txBody>
          <a:bodyPr wrap="none" lIns="0" tIns="0" rIns="0" bIns="0" rtlCol="0" anchor="t"/>
          <a:lstStyle/>
          <a:p>
            <a:pPr algn="l" indent="0" marL="0">
              <a:lnSpc>
                <a:spcPct val="106000"/>
              </a:lnSpc>
              <a:buNone/>
            </a:pPr>
            <a:r>
              <a:rPr lang="en-US" sz="900" spc="-19" kern="0" dirty="0">
                <a:solidFill>
                  <a:srgbClr val="272525"/>
                </a:solidFill>
                <a:latin typeface="Source Sans 3" pitchFamily="34" charset="0"/>
                <a:ea typeface="Source Sans 3" pitchFamily="34" charset="-122"/>
                <a:cs typeface="Source Sans 3" pitchFamily="34" charset="-120"/>
              </a:rPr>
              <a:t>This simple workflow lets users create and revisit their personal diary entries whenever they want. (এই সহজ workflow ব্যবহারকারীদের যখন খুশি personal diary entry তৈরি করতে এবং পরে আবার দেখতে সাহায্য করে.)</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1310481"/>
            <a:ext cx="6846716" cy="586680"/>
          </a:xfrm>
          <a:prstGeom prst="rect">
            <a:avLst/>
          </a:prstGeom>
          <a:noFill/>
          <a:ln/>
        </p:spPr>
        <p:txBody>
          <a:bodyPr wrap="none" lIns="0" tIns="0" rIns="0" bIns="0" rtlCol="0" anchor="t"/>
          <a:lstStyle/>
          <a:p>
            <a:pPr algn="l" indent="0" marL="0">
              <a:lnSpc>
                <a:spcPct val="104000"/>
              </a:lnSpc>
              <a:buNone/>
            </a:pPr>
            <a:r>
              <a:rPr lang="en-US" sz="3650" spc="-74" kern="0" dirty="0">
                <a:solidFill>
                  <a:srgbClr val="D73AD7"/>
                </a:solidFill>
                <a:latin typeface="Source Serif 4 SemiBold" pitchFamily="34" charset="0"/>
                <a:ea typeface="Source Serif 4 SemiBold" pitchFamily="34" charset="-122"/>
                <a:cs typeface="Source Serif 4 SemiBold" pitchFamily="34" charset="-120"/>
              </a:rPr>
              <a:t>Home Screen (হোম স্ক্রিন)</a:t>
            </a:r>
            <a:endParaRPr lang="en-US" sz="3650" dirty="0"/>
          </a:p>
        </p:txBody>
      </p:sp>
      <p:sp>
        <p:nvSpPr>
          <p:cNvPr id="3" name="Text 1"/>
          <p:cNvSpPr/>
          <p:nvPr/>
        </p:nvSpPr>
        <p:spPr>
          <a:xfrm>
            <a:off x="698086" y="2096591"/>
            <a:ext cx="6846716" cy="638373"/>
          </a:xfrm>
          <a:prstGeom prst="rect">
            <a:avLst/>
          </a:prstGeom>
          <a:noFill/>
          <a:ln/>
        </p:spPr>
        <p:txBody>
          <a:bodyPr wrap="square" lIns="0" tIns="0" rIns="0" bIns="0" rtlCol="0" anchor="t">
            <a:normAutofit/>
          </a:bodyPr>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When you open the app, all the months of a selected year are shown together in a grid. (অ্যাপটি খুললে নির্বাচিত বছরের সব মাস একসাথে গ্রিড আকারে দেখা যায়।)</a:t>
            </a:r>
            <a:endParaRPr lang="en-US" sz="1550" dirty="0"/>
          </a:p>
        </p:txBody>
      </p:sp>
      <p:sp>
        <p:nvSpPr>
          <p:cNvPr id="4" name="Text 2"/>
          <p:cNvSpPr/>
          <p:nvPr/>
        </p:nvSpPr>
        <p:spPr>
          <a:xfrm>
            <a:off x="698086" y="2914452"/>
            <a:ext cx="6846716" cy="2762746"/>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Displays all months of a selected year in a grid (নির্বাচিত বছরের সব মাস গ্রিডে দেখায়)</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Each month shows a mini calendar with dates (প্রতিটি মাসে তারিখসহ mini calendar থাকে)</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Holidays and weekends are visually highlighted (ছুটি ও সপ্তাহান্ত visually highlight করা হয়)</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A small indicator shows if a month has saved content (কোনো মাসে saved content থাকলে ছোট indicator দেখায়)</a:t>
            </a:r>
            <a:endParaRPr lang="en-US" sz="1550" dirty="0"/>
          </a:p>
        </p:txBody>
      </p:sp>
      <p:pic>
        <p:nvPicPr>
          <p:cNvPr id="5" name="Image 0" descr="preencoded.png">    </p:cNvPr>
          <p:cNvPicPr>
            <a:picLocks noChangeAspect="1"/>
          </p:cNvPicPr>
          <p:nvPr/>
        </p:nvPicPr>
        <p:blipFill>
          <a:blip r:embed="rId1"/>
          <a:stretch>
            <a:fillRect/>
          </a:stretch>
        </p:blipFill>
        <p:spPr>
          <a:xfrm>
            <a:off x="8037708" y="1335385"/>
            <a:ext cx="3462152" cy="34622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585093"/>
            <a:ext cx="10795524" cy="1044972"/>
          </a:xfrm>
          <a:prstGeom prst="rect">
            <a:avLst/>
          </a:prstGeom>
          <a:noFill/>
          <a:ln/>
        </p:spPr>
        <p:txBody>
          <a:bodyPr wrap="square" lIns="0" tIns="0" rIns="0" bIns="0" rtlCol="0" anchor="t">
            <a:normAutofit/>
          </a:bodyPr>
          <a:lstStyle/>
          <a:p>
            <a:pPr algn="l" indent="0" marL="0">
              <a:lnSpc>
                <a:spcPct val="104000"/>
              </a:lnSpc>
              <a:buNone/>
            </a:pPr>
            <a:r>
              <a:rPr lang="en-US" sz="3250" spc="-66" kern="0" dirty="0">
                <a:solidFill>
                  <a:srgbClr val="D73AD7"/>
                </a:solidFill>
                <a:latin typeface="Source Serif 4 SemiBold" pitchFamily="34" charset="0"/>
                <a:ea typeface="Source Serif 4 SemiBold" pitchFamily="34" charset="-122"/>
                <a:cs typeface="Source Serif 4 SemiBold" pitchFamily="34" charset="-120"/>
              </a:rPr>
              <a:t>Workspace Screen — Layered Design (ওয়ার্কস্পেস স্ক্রিন — লেয়ার্ড ডিজাইন)</a:t>
            </a:r>
            <a:endParaRPr lang="en-US" sz="3250" dirty="0"/>
          </a:p>
        </p:txBody>
      </p:sp>
      <p:sp>
        <p:nvSpPr>
          <p:cNvPr id="3" name="Text 1"/>
          <p:cNvSpPr/>
          <p:nvPr/>
        </p:nvSpPr>
        <p:spPr>
          <a:xfrm>
            <a:off x="698086" y="1946473"/>
            <a:ext cx="11405108" cy="268684"/>
          </a:xfrm>
          <a:prstGeom prst="rect">
            <a:avLst/>
          </a:prstGeom>
          <a:noFill/>
          <a:ln/>
        </p:spPr>
        <p:txBody>
          <a:bodyPr wrap="none" lIns="0" tIns="0" rIns="0" bIns="0" rtlCol="0" anchor="t"/>
          <a:lstStyle/>
          <a:p>
            <a:pPr algn="l" indent="0" marL="0">
              <a:lnSpc>
                <a:spcPct val="126000"/>
              </a:lnSpc>
              <a:buNone/>
            </a:pPr>
            <a:r>
              <a:rPr lang="en-US" sz="1350" i="1" spc="-28" kern="0" dirty="0">
                <a:solidFill>
                  <a:srgbClr val="272525"/>
                </a:solidFill>
                <a:latin typeface="Source Sans 3" pitchFamily="34" charset="0"/>
                <a:ea typeface="Source Sans 3" pitchFamily="34" charset="-122"/>
                <a:cs typeface="Source Sans 3" pitchFamily="34" charset="-120"/>
              </a:rPr>
              <a:t>Think of these as transparent sheets stacked on top of each other. (এগুলোকে স্বচ্ছ শিটের মতো ভাবুন, যা একটির ওপর আরেকটি স্তরে সাজানো।)</a:t>
            </a:r>
            <a:endParaRPr lang="en-US" sz="1350" dirty="0"/>
          </a:p>
        </p:txBody>
      </p:sp>
      <p:pic>
        <p:nvPicPr>
          <p:cNvPr id="4" name="Image 0" descr="preencoded.png">    </p:cNvPr>
          <p:cNvPicPr>
            <a:picLocks noChangeAspect="1"/>
          </p:cNvPicPr>
          <p:nvPr/>
        </p:nvPicPr>
        <p:blipFill>
          <a:blip r:embed="rId1"/>
          <a:stretch>
            <a:fillRect/>
          </a:stretch>
        </p:blipFill>
        <p:spPr>
          <a:xfrm>
            <a:off x="698086" y="2393156"/>
            <a:ext cx="5397762" cy="710605"/>
          </a:xfrm>
          <a:prstGeom prst="rect">
            <a:avLst/>
          </a:prstGeom>
        </p:spPr>
      </p:pic>
      <p:sp>
        <p:nvSpPr>
          <p:cNvPr id="5" name="Text 2"/>
          <p:cNvSpPr/>
          <p:nvPr/>
        </p:nvSpPr>
        <p:spPr>
          <a:xfrm>
            <a:off x="875683" y="3261916"/>
            <a:ext cx="5042568" cy="261243"/>
          </a:xfrm>
          <a:prstGeom prst="rect">
            <a:avLst/>
          </a:prstGeom>
          <a:noFill/>
          <a:ln/>
        </p:spPr>
        <p:txBody>
          <a:bodyPr wrap="none" lIns="0" tIns="0" rIns="0" bIns="0" rtlCol="0" anchor="t"/>
          <a:lstStyle/>
          <a:p>
            <a:pPr algn="l" indent="0" marL="0">
              <a:lnSpc>
                <a:spcPct val="104000"/>
              </a:lnSpc>
              <a:buNone/>
            </a:pPr>
            <a:r>
              <a:rPr lang="en-US" sz="1600" spc="-33" kern="0" dirty="0">
                <a:solidFill>
                  <a:srgbClr val="272525"/>
                </a:solidFill>
                <a:latin typeface="Source Serif 4 SemiBold" pitchFamily="34" charset="0"/>
                <a:ea typeface="Source Serif 4 SemiBold" pitchFamily="34" charset="-122"/>
                <a:cs typeface="Source Serif 4 SemiBold" pitchFamily="34" charset="-120"/>
              </a:rPr>
              <a:t>Calendar Background (ক্যালেন্ডার ব্যাকগ্রাউন্ড)</a:t>
            </a:r>
            <a:endParaRPr lang="en-US" sz="1600" dirty="0"/>
          </a:p>
        </p:txBody>
      </p:sp>
      <p:sp>
        <p:nvSpPr>
          <p:cNvPr id="6" name="Text 3"/>
          <p:cNvSpPr/>
          <p:nvPr/>
        </p:nvSpPr>
        <p:spPr>
          <a:xfrm>
            <a:off x="875683" y="3618012"/>
            <a:ext cx="5042568" cy="268684"/>
          </a:xfrm>
          <a:prstGeom prst="rect">
            <a:avLst/>
          </a:prstGeom>
          <a:noFill/>
          <a:ln/>
        </p:spPr>
        <p:txBody>
          <a:bodyPr wrap="none" lIns="0" tIns="0" rIns="0" bIns="0" rtlCol="0" anchor="t"/>
          <a:lstStyle/>
          <a:p>
            <a:pPr algn="l" indent="0" marL="0">
              <a:lnSpc>
                <a:spcPct val="126000"/>
              </a:lnSpc>
              <a:buNone/>
            </a:pPr>
            <a:r>
              <a:rPr lang="en-US" sz="1350" spc="-28" kern="0" dirty="0">
                <a:solidFill>
                  <a:srgbClr val="272525"/>
                </a:solidFill>
                <a:latin typeface="Source Sans 3" pitchFamily="34" charset="0"/>
                <a:ea typeface="Source Sans 3" pitchFamily="34" charset="-122"/>
                <a:cs typeface="Source Sans 3" pitchFamily="34" charset="-120"/>
              </a:rPr>
              <a:t>Shows dates and day names (তারিখ ও দিনের নাম দেখায়)</a:t>
            </a:r>
            <a:endParaRPr lang="en-US" sz="1350" dirty="0"/>
          </a:p>
        </p:txBody>
      </p:sp>
      <p:pic>
        <p:nvPicPr>
          <p:cNvPr id="7" name="Image 1" descr="preencoded.png">    </p:cNvPr>
          <p:cNvPicPr>
            <a:picLocks noChangeAspect="1"/>
          </p:cNvPicPr>
          <p:nvPr/>
        </p:nvPicPr>
        <p:blipFill>
          <a:blip r:embed="rId2"/>
          <a:stretch>
            <a:fillRect/>
          </a:stretch>
        </p:blipFill>
        <p:spPr>
          <a:xfrm>
            <a:off x="6095848" y="2393156"/>
            <a:ext cx="5397762" cy="710605"/>
          </a:xfrm>
          <a:prstGeom prst="rect">
            <a:avLst/>
          </a:prstGeom>
        </p:spPr>
      </p:pic>
      <p:sp>
        <p:nvSpPr>
          <p:cNvPr id="8" name="Text 4"/>
          <p:cNvSpPr/>
          <p:nvPr/>
        </p:nvSpPr>
        <p:spPr>
          <a:xfrm>
            <a:off x="6273445" y="3261916"/>
            <a:ext cx="5042568" cy="261243"/>
          </a:xfrm>
          <a:prstGeom prst="rect">
            <a:avLst/>
          </a:prstGeom>
          <a:noFill/>
          <a:ln/>
        </p:spPr>
        <p:txBody>
          <a:bodyPr wrap="none" lIns="0" tIns="0" rIns="0" bIns="0" rtlCol="0" anchor="t"/>
          <a:lstStyle/>
          <a:p>
            <a:pPr algn="l" indent="0" marL="0">
              <a:lnSpc>
                <a:spcPct val="104000"/>
              </a:lnSpc>
              <a:buNone/>
            </a:pPr>
            <a:r>
              <a:rPr lang="en-US" sz="1600" spc="-33" kern="0" dirty="0">
                <a:solidFill>
                  <a:srgbClr val="272525"/>
                </a:solidFill>
                <a:latin typeface="Source Serif 4 SemiBold" pitchFamily="34" charset="0"/>
                <a:ea typeface="Source Serif 4 SemiBold" pitchFamily="34" charset="-122"/>
                <a:cs typeface="Source Serif 4 SemiBold" pitchFamily="34" charset="-120"/>
              </a:rPr>
              <a:t>Drawing Layer (ড্রয়িং লেয়ার)</a:t>
            </a:r>
            <a:endParaRPr lang="en-US" sz="1600" dirty="0"/>
          </a:p>
        </p:txBody>
      </p:sp>
      <p:sp>
        <p:nvSpPr>
          <p:cNvPr id="9" name="Text 5"/>
          <p:cNvSpPr/>
          <p:nvPr/>
        </p:nvSpPr>
        <p:spPr>
          <a:xfrm>
            <a:off x="6273445" y="3618012"/>
            <a:ext cx="5042568" cy="537369"/>
          </a:xfrm>
          <a:prstGeom prst="rect">
            <a:avLst/>
          </a:prstGeom>
          <a:noFill/>
          <a:ln/>
        </p:spPr>
        <p:txBody>
          <a:bodyPr wrap="square" lIns="0" tIns="0" rIns="0" bIns="0" rtlCol="0" anchor="t">
            <a:normAutofit/>
          </a:bodyPr>
          <a:lstStyle/>
          <a:p>
            <a:pPr algn="l" indent="0" marL="0">
              <a:lnSpc>
                <a:spcPct val="126000"/>
              </a:lnSpc>
              <a:buNone/>
            </a:pPr>
            <a:r>
              <a:rPr lang="en-US" sz="1350" spc="-28" kern="0" dirty="0">
                <a:solidFill>
                  <a:srgbClr val="272525"/>
                </a:solidFill>
                <a:latin typeface="Source Sans 3" pitchFamily="34" charset="0"/>
                <a:ea typeface="Source Sans 3" pitchFamily="34" charset="-122"/>
                <a:cs typeface="Source Sans 3" pitchFamily="34" charset="-120"/>
              </a:rPr>
              <a:t>Where you write and draw with your finger or stylus (যেখানে আপনি আঙুল বা স্টাইলাস দিয়ে লেখেন ও আঁকেন)</a:t>
            </a:r>
            <a:endParaRPr lang="en-US" sz="1350" dirty="0"/>
          </a:p>
        </p:txBody>
      </p:sp>
      <p:pic>
        <p:nvPicPr>
          <p:cNvPr id="10" name="Image 2" descr="preencoded.png">    </p:cNvPr>
          <p:cNvPicPr>
            <a:picLocks noChangeAspect="1"/>
          </p:cNvPicPr>
          <p:nvPr/>
        </p:nvPicPr>
        <p:blipFill>
          <a:blip r:embed="rId3"/>
          <a:stretch>
            <a:fillRect/>
          </a:stretch>
        </p:blipFill>
        <p:spPr>
          <a:xfrm>
            <a:off x="698086" y="4332982"/>
            <a:ext cx="5397762" cy="710605"/>
          </a:xfrm>
          <a:prstGeom prst="rect">
            <a:avLst/>
          </a:prstGeom>
        </p:spPr>
      </p:pic>
      <p:sp>
        <p:nvSpPr>
          <p:cNvPr id="11" name="Text 6"/>
          <p:cNvSpPr/>
          <p:nvPr/>
        </p:nvSpPr>
        <p:spPr>
          <a:xfrm>
            <a:off x="875683" y="5201741"/>
            <a:ext cx="5042568" cy="261243"/>
          </a:xfrm>
          <a:prstGeom prst="rect">
            <a:avLst/>
          </a:prstGeom>
          <a:noFill/>
          <a:ln/>
        </p:spPr>
        <p:txBody>
          <a:bodyPr wrap="none" lIns="0" tIns="0" rIns="0" bIns="0" rtlCol="0" anchor="t"/>
          <a:lstStyle/>
          <a:p>
            <a:pPr algn="l" indent="0" marL="0">
              <a:lnSpc>
                <a:spcPct val="104000"/>
              </a:lnSpc>
              <a:buNone/>
            </a:pPr>
            <a:r>
              <a:rPr lang="en-US" sz="1600" spc="-33" kern="0" dirty="0">
                <a:solidFill>
                  <a:srgbClr val="272525"/>
                </a:solidFill>
                <a:latin typeface="Source Serif 4 SemiBold" pitchFamily="34" charset="0"/>
                <a:ea typeface="Source Serif 4 SemiBold" pitchFamily="34" charset="-122"/>
                <a:cs typeface="Source Serif 4 SemiBold" pitchFamily="34" charset="-120"/>
              </a:rPr>
              <a:t>Sticky Notes Layer (স্টিকি নোট লেয়ার)</a:t>
            </a:r>
            <a:endParaRPr lang="en-US" sz="1600" dirty="0"/>
          </a:p>
        </p:txBody>
      </p:sp>
      <p:sp>
        <p:nvSpPr>
          <p:cNvPr id="12" name="Text 7"/>
          <p:cNvSpPr/>
          <p:nvPr/>
        </p:nvSpPr>
        <p:spPr>
          <a:xfrm>
            <a:off x="875683" y="5557838"/>
            <a:ext cx="5042568" cy="537369"/>
          </a:xfrm>
          <a:prstGeom prst="rect">
            <a:avLst/>
          </a:prstGeom>
          <a:noFill/>
          <a:ln/>
        </p:spPr>
        <p:txBody>
          <a:bodyPr wrap="square" lIns="0" tIns="0" rIns="0" bIns="0" rtlCol="0" anchor="t">
            <a:normAutofit/>
          </a:bodyPr>
          <a:lstStyle/>
          <a:p>
            <a:pPr algn="l" indent="0" marL="0">
              <a:lnSpc>
                <a:spcPct val="126000"/>
              </a:lnSpc>
              <a:buNone/>
            </a:pPr>
            <a:r>
              <a:rPr lang="en-US" sz="1350" spc="-28" kern="0" dirty="0">
                <a:solidFill>
                  <a:srgbClr val="272525"/>
                </a:solidFill>
                <a:latin typeface="Source Sans 3" pitchFamily="34" charset="0"/>
                <a:ea typeface="Source Sans 3" pitchFamily="34" charset="-122"/>
                <a:cs typeface="Source Sans 3" pitchFamily="34" charset="-120"/>
              </a:rPr>
              <a:t>Movable, resizable text notes with colors (রঙসহ সরানো ও আকার বদলানো যায় এমন টেক্সট নোট)</a:t>
            </a:r>
            <a:endParaRPr lang="en-US" sz="1350" dirty="0"/>
          </a:p>
        </p:txBody>
      </p:sp>
      <p:pic>
        <p:nvPicPr>
          <p:cNvPr id="13" name="Image 3" descr="preencoded.png">    </p:cNvPr>
          <p:cNvPicPr>
            <a:picLocks noChangeAspect="1"/>
          </p:cNvPicPr>
          <p:nvPr/>
        </p:nvPicPr>
        <p:blipFill>
          <a:blip r:embed="rId4"/>
          <a:stretch>
            <a:fillRect/>
          </a:stretch>
        </p:blipFill>
        <p:spPr>
          <a:xfrm>
            <a:off x="6095848" y="4332982"/>
            <a:ext cx="5397762" cy="710605"/>
          </a:xfrm>
          <a:prstGeom prst="rect">
            <a:avLst/>
          </a:prstGeom>
        </p:spPr>
      </p:pic>
      <p:sp>
        <p:nvSpPr>
          <p:cNvPr id="14" name="Text 8"/>
          <p:cNvSpPr/>
          <p:nvPr/>
        </p:nvSpPr>
        <p:spPr>
          <a:xfrm>
            <a:off x="6273445" y="5201741"/>
            <a:ext cx="5042568" cy="261243"/>
          </a:xfrm>
          <a:prstGeom prst="rect">
            <a:avLst/>
          </a:prstGeom>
          <a:noFill/>
          <a:ln/>
        </p:spPr>
        <p:txBody>
          <a:bodyPr wrap="none" lIns="0" tIns="0" rIns="0" bIns="0" rtlCol="0" anchor="t"/>
          <a:lstStyle/>
          <a:p>
            <a:pPr algn="l" indent="0" marL="0">
              <a:lnSpc>
                <a:spcPct val="104000"/>
              </a:lnSpc>
              <a:buNone/>
            </a:pPr>
            <a:r>
              <a:rPr lang="en-US" sz="1600" spc="-33" kern="0" dirty="0">
                <a:solidFill>
                  <a:srgbClr val="272525"/>
                </a:solidFill>
                <a:latin typeface="Source Serif 4 SemiBold" pitchFamily="34" charset="0"/>
                <a:ea typeface="Source Serif 4 SemiBold" pitchFamily="34" charset="-122"/>
                <a:cs typeface="Source Serif 4 SemiBold" pitchFamily="34" charset="-120"/>
              </a:rPr>
              <a:t>Toolbar (টুলবার)</a:t>
            </a:r>
            <a:endParaRPr lang="en-US" sz="1600" dirty="0"/>
          </a:p>
        </p:txBody>
      </p:sp>
      <p:sp>
        <p:nvSpPr>
          <p:cNvPr id="15" name="Text 9"/>
          <p:cNvSpPr/>
          <p:nvPr/>
        </p:nvSpPr>
        <p:spPr>
          <a:xfrm>
            <a:off x="6273445" y="5557838"/>
            <a:ext cx="5042568" cy="537369"/>
          </a:xfrm>
          <a:prstGeom prst="rect">
            <a:avLst/>
          </a:prstGeom>
          <a:noFill/>
          <a:ln/>
        </p:spPr>
        <p:txBody>
          <a:bodyPr wrap="square" lIns="0" tIns="0" rIns="0" bIns="0" rtlCol="0" anchor="t">
            <a:normAutofit/>
          </a:bodyPr>
          <a:lstStyle/>
          <a:p>
            <a:pPr algn="l" indent="0" marL="0">
              <a:lnSpc>
                <a:spcPct val="126000"/>
              </a:lnSpc>
              <a:buNone/>
            </a:pPr>
            <a:r>
              <a:rPr lang="en-US" sz="1350" spc="-28" kern="0" dirty="0">
                <a:solidFill>
                  <a:srgbClr val="272525"/>
                </a:solidFill>
                <a:latin typeface="Source Sans 3" pitchFamily="34" charset="0"/>
                <a:ea typeface="Source Sans 3" pitchFamily="34" charset="-122"/>
                <a:cs typeface="Source Sans 3" pitchFamily="34" charset="-120"/>
              </a:rPr>
              <a:t>Tools for drawing, erasing, adding notes, and setting reminders (ড্রয়িং, মুছে ফেলা, নোট যোগ করা, এবং রিমাইন্ডার সেট করার টুল)</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597297"/>
            <a:ext cx="10795524" cy="366713"/>
          </a:xfrm>
          <a:prstGeom prst="rect">
            <a:avLst/>
          </a:prstGeom>
          <a:noFill/>
          <a:ln/>
        </p:spPr>
        <p:txBody>
          <a:bodyPr wrap="none" lIns="0" tIns="0" rIns="0" bIns="0" rtlCol="0" anchor="t"/>
          <a:lstStyle/>
          <a:p>
            <a:pPr algn="l" indent="0" marL="0">
              <a:lnSpc>
                <a:spcPct val="104000"/>
              </a:lnSpc>
              <a:buNone/>
            </a:pPr>
            <a:r>
              <a:rPr lang="en-US" sz="2300" spc="-46" kern="0" dirty="0">
                <a:solidFill>
                  <a:srgbClr val="D73AD7"/>
                </a:solidFill>
                <a:latin typeface="Source Serif 4 SemiBold" pitchFamily="34" charset="0"/>
                <a:ea typeface="Source Serif 4 SemiBold" pitchFamily="34" charset="-122"/>
                <a:cs typeface="Source Serif 4 SemiBold" pitchFamily="34" charset="-120"/>
              </a:rPr>
              <a:t>Data Structure (ডেটা স্ট্রাকচার) - Note Entity</a:t>
            </a:r>
            <a:endParaRPr lang="en-US" sz="2300" dirty="0"/>
          </a:p>
        </p:txBody>
      </p:sp>
      <p:sp>
        <p:nvSpPr>
          <p:cNvPr id="3" name="Text 1"/>
          <p:cNvSpPr/>
          <p:nvPr/>
        </p:nvSpPr>
        <p:spPr>
          <a:xfrm>
            <a:off x="698086" y="1119783"/>
            <a:ext cx="11405108" cy="174823"/>
          </a:xfrm>
          <a:prstGeom prst="rect">
            <a:avLst/>
          </a:prstGeom>
          <a:noFill/>
          <a:ln/>
        </p:spPr>
        <p:txBody>
          <a:bodyPr wrap="none" lIns="0" tIns="0" rIns="0" bIns="0" rtlCol="0" anchor="t"/>
          <a:lstStyle/>
          <a:p>
            <a:pPr algn="l" indent="0" marL="0">
              <a:lnSpc>
                <a:spcPct val="108000"/>
              </a:lnSpc>
              <a:buNone/>
            </a:pPr>
            <a:r>
              <a:rPr lang="en-US" sz="950" spc="-20" kern="0" dirty="0">
                <a:solidFill>
                  <a:srgbClr val="272525"/>
                </a:solidFill>
                <a:latin typeface="Source Sans 3" pitchFamily="34" charset="0"/>
                <a:ea typeface="Source Sans 3" pitchFamily="34" charset="-122"/>
                <a:cs typeface="Source Sans 3" pitchFamily="34" charset="-120"/>
              </a:rPr>
              <a:t>Here is the data structure for the </a:t>
            </a:r>
            <a:pPr algn="l" indent="0" marL="0">
              <a:lnSpc>
                <a:spcPct val="108000"/>
              </a:lnSpc>
              <a:buNone/>
            </a:pPr>
            <a:r>
              <a:rPr lang="en-US" sz="950" spc="-20" kern="0" dirty="0">
                <a:solidFill>
                  <a:srgbClr val="272525"/>
                </a:solidFill>
                <a:highlight>
                  <a:srgbClr val="F2F2F2"/>
                </a:highlight>
                <a:latin typeface="Consolas" pitchFamily="34" charset="0"/>
                <a:ea typeface="Consolas" pitchFamily="34" charset="-122"/>
                <a:cs typeface="Consolas" pitchFamily="34" charset="-120"/>
              </a:rPr>
              <a:t>NoteEntity</a:t>
            </a:r>
            <a:pPr algn="l" indent="0" marL="0">
              <a:lnSpc>
                <a:spcPct val="108000"/>
              </a:lnSpc>
              <a:buNone/>
            </a:pPr>
            <a:r>
              <a:rPr lang="en-US" sz="950" spc="-20" kern="0" dirty="0">
                <a:solidFill>
                  <a:srgbClr val="272525"/>
                </a:solidFill>
                <a:latin typeface="Source Sans 3" pitchFamily="34" charset="0"/>
                <a:ea typeface="Source Sans 3" pitchFamily="34" charset="-122"/>
                <a:cs typeface="Source Sans 3" pitchFamily="34" charset="-120"/>
              </a:rPr>
              <a:t> (নোট এন্টিটি), detailing all fields, their types, and descriptions in both English and Bengali.</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8086" y="1382216"/>
          <a:ext cx="9143771" cy="914400"/>
        </p:xfrm>
        <a:graphic>
          <a:graphicData uri="http://schemas.openxmlformats.org/drawingml/2006/table">
            <a:tbl>
              <a:tblPr/>
              <a:tblGrid>
                <a:gridCol w="2698881"/>
                <a:gridCol w="2159105"/>
                <a:gridCol w="5937538"/>
              </a:tblGrid>
              <a:tr h="271456">
                <a:tc>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Field (ফিল্ড)</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solidFill>
                      <a:srgbClr val="FF9013"/>
                    </a:solidFill>
                  </a:tcPr>
                </a:tc>
                <a:tc>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Type (টাইপ)</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solidFill>
                      <a:srgbClr val="FF9013"/>
                    </a:solidFill>
                  </a:tcPr>
                </a:tc>
                <a:tc>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Description (বর্ণনা)</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solidFill>
                      <a:srgbClr val="FF9013"/>
                    </a:solidFill>
                  </a:tcPr>
                </a:tc>
              </a:tr>
              <a:tr h="574661">
                <a:tc rowSpan="2">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Core Fields (মূল ফিল্ড)</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id</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Long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(Primary Key - অটো জেনারেট)</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monthKey</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String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(কোন মাসের নোট)</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1149321">
                <a:tc rowSpan="4">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Position &amp; Size (অবস্থান ও আকার)</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xFraction</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Float</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(X অবস্থান)</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yFraction</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Float</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(Y অবস্থান)</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widthDp</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Float</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(প্রস্থ)</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heightDp</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Float</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(উচ্চতা)</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574661">
                <a:tc rowSpan="2">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Content (কন্টেন্ট)</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contentHtml</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String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(নোটের টেক্সট)</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paperColorHex</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String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(কাগজের রঙ)</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1149321">
                <a:tc rowSpan="4">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Styling (স্টাইলিং)</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fontSizeSp</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Float</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(ফন্ট সাইজ)</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isBold</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Boolean</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(বোল্ড)</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isItalic</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Boolean</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(ইটালিক)</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textColorHex</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String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(টেক্সট রঙ)</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574661">
                <a:tc rowSpan="2">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Alarm/Reminder (অ্যালার্ম)</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alarmEpochMillis</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Long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(সময়)</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7330">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alarmLabel</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String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(লেবেল)</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571486">
                <a:tc rowSpan="2">
                  <a:txBody>
                    <a:bodyPr/>
                    <a:lstStyle/>
                    <a:p>
                      <a:pPr indent="0" marL="0">
                        <a:buNone/>
                      </a:pPr>
                      <a:r>
                        <a:rPr lang="en-US" sz="950" b="1" spc="-20" kern="0" dirty="0">
                          <a:solidFill>
                            <a:srgbClr val="272525"/>
                          </a:solidFill>
                          <a:latin typeface="Source Sans 3" pitchFamily="34" charset="0"/>
                          <a:ea typeface="Source Sans 3" pitchFamily="34" charset="-122"/>
                          <a:cs typeface="Source Sans 3" pitchFamily="34" charset="-120"/>
                        </a:rPr>
                        <a:t>Timestamps (সময় রেকর্ড)</a:t>
                      </a:r>
                      <a:endParaRPr lang="en-US" sz="950" dirty="0">
                        <a:latin typeface="Source Sans 3" charset="0"/>
                        <a:ea typeface="Source Sans 3" charset="0"/>
                        <a:cs typeface="Source Sans 3"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createdAt</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Long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(তৈরির সময়)</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r h="284155">
                <a:tc vMerge="1">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updatedAt</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c>
                  <a:txBody>
                    <a:bodyPr/>
                    <a:lstStyle/>
                    <a:p>
                      <a:pPr indent="0" marL="0">
                        <a:buNone/>
                      </a:pPr>
                      <a:r>
                        <a:rPr lang="en-US" sz="950" spc="-20" kern="0" dirty="0">
                          <a:solidFill>
                            <a:srgbClr val="272525"/>
                          </a:solidFill>
                          <a:latin typeface="Consolas" pitchFamily="34" charset="0"/>
                          <a:ea typeface="Consolas" pitchFamily="34" charset="-122"/>
                          <a:cs typeface="Consolas" pitchFamily="34" charset="-120"/>
                        </a:rPr>
                        <a:t>Long</a:t>
                      </a:r>
                      <a:pPr indent="0" marL="0">
                        <a:buNone/>
                      </a:pPr>
                      <a:r>
                        <a:rPr lang="en-US" sz="950" spc="-20" kern="0" dirty="0">
                          <a:solidFill>
                            <a:srgbClr val="272525"/>
                          </a:solidFill>
                          <a:latin typeface="Source Sans 3" pitchFamily="34" charset="0"/>
                          <a:ea typeface="Source Sans 3" pitchFamily="34" charset="-122"/>
                          <a:cs typeface="Source Sans 3" pitchFamily="34" charset="-120"/>
                        </a:rPr>
                        <a:t> (আপডেটের সময়)</a:t>
                      </a:r>
                      <a:endParaRPr lang="en-US" sz="950" dirty="0">
                        <a:latin typeface="Consolas" charset="0"/>
                        <a:ea typeface="Consolas" charset="0"/>
                        <a:cs typeface="Consolas" charset="0"/>
                      </a:endParaRPr>
                    </a:p>
                  </a:txBody>
                  <a:tcPr marL="124675" marR="124675" marT="6350" marB="6350" anchor="ctr">
                    <a:lnL w="12700" cap="flat" cmpd="sng" algn="ctr">
                      <a:solidFill>
                        <a:srgbClr val="DABADD"/>
                      </a:solidFill>
                      <a:prstDash val="solid"/>
                      <a:round/>
                      <a:headEnd type="none" w="med" len="med"/>
                      <a:tailEnd type="none" w="med" len="med"/>
                    </a:lnL>
                    <a:lnR w="12700" cap="flat" cmpd="sng" algn="ctr">
                      <a:solidFill>
                        <a:srgbClr val="DABADD"/>
                      </a:solidFill>
                      <a:prstDash val="solid"/>
                      <a:round/>
                      <a:headEnd type="none" w="med" len="med"/>
                      <a:tailEnd type="none" w="med" len="med"/>
                    </a:lnR>
                    <a:lnT w="12700" cap="flat" cmpd="sng" algn="ctr">
                      <a:solidFill>
                        <a:srgbClr val="DABADD"/>
                      </a:solidFill>
                      <a:prstDash val="solid"/>
                      <a:round/>
                      <a:headEnd type="none" w="med" len="med"/>
                      <a:tailEnd type="none" w="med" len="med"/>
                    </a:lnT>
                    <a:lnB w="12700" cap="flat" cmpd="sng" algn="ctr">
                      <a:solidFill>
                        <a:srgbClr val="DABADD"/>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8086" y="1650901"/>
            <a:ext cx="3556010" cy="3556099"/>
          </a:xfrm>
          <a:prstGeom prst="rect">
            <a:avLst/>
          </a:prstGeom>
        </p:spPr>
      </p:pic>
      <p:sp>
        <p:nvSpPr>
          <p:cNvPr id="3" name="Text 0"/>
          <p:cNvSpPr/>
          <p:nvPr/>
        </p:nvSpPr>
        <p:spPr>
          <a:xfrm>
            <a:off x="4602543" y="766366"/>
            <a:ext cx="6897317" cy="824905"/>
          </a:xfrm>
          <a:prstGeom prst="rect">
            <a:avLst/>
          </a:prstGeom>
          <a:noFill/>
          <a:ln/>
        </p:spPr>
        <p:txBody>
          <a:bodyPr wrap="square" lIns="0" tIns="0" rIns="0" bIns="0" rtlCol="0" anchor="t">
            <a:normAutofit/>
          </a:bodyPr>
          <a:lstStyle/>
          <a:p>
            <a:pPr algn="l" indent="0" marL="0">
              <a:lnSpc>
                <a:spcPct val="104000"/>
              </a:lnSpc>
              <a:buNone/>
            </a:pPr>
            <a:r>
              <a:rPr lang="en-US" sz="2550" spc="-52" kern="0" dirty="0">
                <a:solidFill>
                  <a:srgbClr val="D73AD7"/>
                </a:solidFill>
                <a:latin typeface="Source Serif 4 SemiBold" pitchFamily="34" charset="0"/>
                <a:ea typeface="Source Serif 4 SemiBold" pitchFamily="34" charset="-122"/>
                <a:cs typeface="Source Serif 4 SemiBold" pitchFamily="34" charset="-120"/>
              </a:rPr>
              <a:t>How Handwriting Works (হাতের লেখা কীভাবে কাজ করে)</a:t>
            </a:r>
            <a:endParaRPr lang="en-US" sz="2550" dirty="0"/>
          </a:p>
        </p:txBody>
      </p:sp>
      <p:sp>
        <p:nvSpPr>
          <p:cNvPr id="4" name="Text 1"/>
          <p:cNvSpPr/>
          <p:nvPr/>
        </p:nvSpPr>
        <p:spPr>
          <a:xfrm>
            <a:off x="4602543" y="1689795"/>
            <a:ext cx="6897317" cy="382191"/>
          </a:xfrm>
          <a:prstGeom prst="rect">
            <a:avLst/>
          </a:prstGeom>
          <a:noFill/>
          <a:ln/>
        </p:spPr>
        <p:txBody>
          <a:bodyPr wrap="square" lIns="0" tIns="0" rIns="0" bIns="0" rtlCol="0" anchor="t">
            <a:normAutofit/>
          </a:bodyPr>
          <a:lstStyle/>
          <a:p>
            <a:pPr algn="l" indent="0" marL="0">
              <a:lnSpc>
                <a:spcPct val="114000"/>
              </a:lnSpc>
              <a:buNone/>
            </a:pPr>
            <a:r>
              <a:rPr lang="en-US" sz="1100" spc="-22" kern="0" dirty="0">
                <a:solidFill>
                  <a:srgbClr val="272525"/>
                </a:solidFill>
                <a:latin typeface="Source Sans 3" pitchFamily="34" charset="0"/>
                <a:ea typeface="Source Sans 3" pitchFamily="34" charset="-122"/>
                <a:cs typeface="Source Sans 3" pitchFamily="34" charset="-120"/>
              </a:rPr>
              <a:t>When you drag your finger, the app records many small points along the path. (আপনি আঙুল টানলে অ্যাপটি পথে অনেক ছোট ছোট পয়েন্ট রেকর্ড করে।)</a:t>
            </a:r>
            <a:endParaRPr lang="en-US" sz="1100" dirty="0"/>
          </a:p>
        </p:txBody>
      </p:sp>
      <p:sp>
        <p:nvSpPr>
          <p:cNvPr id="5" name="Text 2"/>
          <p:cNvSpPr/>
          <p:nvPr/>
        </p:nvSpPr>
        <p:spPr>
          <a:xfrm>
            <a:off x="4602543" y="2160687"/>
            <a:ext cx="6897317" cy="833239"/>
          </a:xfrm>
          <a:prstGeom prst="rect">
            <a:avLst/>
          </a:prstGeom>
          <a:noFill/>
          <a:ln/>
        </p:spPr>
        <p:txBody>
          <a:bodyPr wrap="square" lIns="0" tIns="0" rIns="0" bIns="0" rtlCol="0" anchor="t">
            <a:normAutofit/>
          </a:bodyPr>
          <a:lstStyle/>
          <a:p>
            <a:pPr algn="l" marL="223520" indent="-223520">
              <a:lnSpc>
                <a:spcPct val="114000"/>
              </a:lnSpc>
              <a:buSzPct val="100000"/>
              <a:buChar char="•"/>
            </a:pPr>
            <a:r>
              <a:rPr lang="en-US" sz="1100" spc="-22" kern="0" dirty="0">
                <a:solidFill>
                  <a:srgbClr val="272525"/>
                </a:solidFill>
                <a:latin typeface="Source Sans 3" pitchFamily="34" charset="0"/>
                <a:ea typeface="Source Sans 3" pitchFamily="34" charset="-122"/>
                <a:cs typeface="Source Sans 3" pitchFamily="34" charset="-120"/>
              </a:rPr>
              <a:t>These points describe the exact shape of your handwriting (এই পয়েন্টগুলো আপনার হাতের লেখার সঠিক আকৃতি বোঝায়)</a:t>
            </a:r>
            <a:endParaRPr lang="en-US" sz="1100" dirty="0"/>
          </a:p>
          <a:p>
            <a:pPr algn="l" marL="223520" indent="-223520">
              <a:lnSpc>
                <a:spcPct val="114000"/>
              </a:lnSpc>
              <a:buSzPct val="100000"/>
              <a:buChar char="•"/>
            </a:pPr>
            <a:r>
              <a:rPr lang="en-US" sz="1100" spc="-22" kern="0" dirty="0">
                <a:solidFill>
                  <a:srgbClr val="272525"/>
                </a:solidFill>
                <a:latin typeface="Source Sans 3" pitchFamily="34" charset="0"/>
                <a:ea typeface="Source Sans 3" pitchFamily="34" charset="-122"/>
                <a:cs typeface="Source Sans 3" pitchFamily="34" charset="-120"/>
              </a:rPr>
              <a:t>The app saves the points, not a screenshot (অ্যাপটি পয়েন্টগুলো সেভ করে, স্ক্রিনশট নয়)</a:t>
            </a:r>
            <a:endParaRPr lang="en-US" sz="1100" dirty="0"/>
          </a:p>
          <a:p>
            <a:pPr algn="l" marL="223520" indent="-223520">
              <a:lnSpc>
                <a:spcPct val="114000"/>
              </a:lnSpc>
              <a:buSzPct val="100000"/>
              <a:buChar char="•"/>
            </a:pPr>
            <a:r>
              <a:rPr lang="en-US" sz="1100" spc="-22" kern="0" dirty="0">
                <a:solidFill>
                  <a:srgbClr val="272525"/>
                </a:solidFill>
                <a:latin typeface="Source Sans 3" pitchFamily="34" charset="0"/>
                <a:ea typeface="Source Sans 3" pitchFamily="34" charset="-122"/>
                <a:cs typeface="Source Sans 3" pitchFamily="34" charset="-120"/>
              </a:rPr>
              <a:t>When you reopen the month, the app redraws from those points (আপনি মাসটি আবার খুললে অ্যাপটি সেই পয়েন্টগুলো থেকে আবার আঁকে)</a:t>
            </a:r>
            <a:endParaRPr lang="en-US" sz="1100" dirty="0"/>
          </a:p>
        </p:txBody>
      </p:sp>
      <p:pic>
        <p:nvPicPr>
          <p:cNvPr id="6" name="Image 1" descr="preencoded.png">    </p:cNvPr>
          <p:cNvPicPr>
            <a:picLocks noChangeAspect="1"/>
          </p:cNvPicPr>
          <p:nvPr/>
        </p:nvPicPr>
        <p:blipFill>
          <a:blip r:embed="rId2"/>
          <a:stretch>
            <a:fillRect/>
          </a:stretch>
        </p:blipFill>
        <p:spPr>
          <a:xfrm>
            <a:off x="4602543" y="3104852"/>
            <a:ext cx="6897317" cy="2974380"/>
          </a:xfrm>
          <a:prstGeom prst="rect">
            <a:avLst/>
          </a:prstGeom>
        </p:spPr>
      </p:pic>
      <p:sp>
        <p:nvSpPr>
          <p:cNvPr id="7" name="Text 3"/>
          <p:cNvSpPr/>
          <p:nvPr/>
        </p:nvSpPr>
        <p:spPr>
          <a:xfrm>
            <a:off x="5066638" y="5520937"/>
            <a:ext cx="2223727" cy="183976"/>
          </a:xfrm>
          <a:prstGeom prst="rect">
            <a:avLst/>
          </a:prstGeom>
          <a:noFill/>
          <a:ln/>
        </p:spPr>
        <p:txBody>
          <a:bodyPr wrap="none" lIns="0" tIns="0" rIns="0" bIns="0" rtlCol="0" anchor="t"/>
          <a:lstStyle/>
          <a:p>
            <a:pPr algn="l" indent="0" marL="0">
              <a:lnSpc>
                <a:spcPct val="104000"/>
              </a:lnSpc>
              <a:buNone/>
            </a:pPr>
            <a:r>
              <a:rPr lang="en-US" sz="1150" spc="-23" kern="0" dirty="0">
                <a:solidFill>
                  <a:srgbClr val="000000"/>
                </a:solidFill>
                <a:latin typeface="Source Serif 4 SemiBold" pitchFamily="34" charset="0"/>
                <a:ea typeface="Source Serif 4 SemiBold" pitchFamily="34" charset="-122"/>
                <a:cs typeface="Source Serif 4 SemiBold" pitchFamily="34" charset="-120"/>
              </a:rPr>
              <a:t>Redraw Screen (স্ক্রিনে আবার আঁকা)</a:t>
            </a:r>
            <a:endParaRPr lang="en-US" sz="1150" dirty="0"/>
          </a:p>
        </p:txBody>
      </p:sp>
      <p:sp>
        <p:nvSpPr>
          <p:cNvPr id="8" name="Text 4"/>
          <p:cNvSpPr/>
          <p:nvPr/>
        </p:nvSpPr>
        <p:spPr>
          <a:xfrm>
            <a:off x="5066638" y="4832417"/>
            <a:ext cx="1472633" cy="183975"/>
          </a:xfrm>
          <a:prstGeom prst="rect">
            <a:avLst/>
          </a:prstGeom>
          <a:noFill/>
          <a:ln/>
        </p:spPr>
        <p:txBody>
          <a:bodyPr wrap="none" lIns="0" tIns="0" rIns="0" bIns="0" rtlCol="0" anchor="t"/>
          <a:lstStyle/>
          <a:p>
            <a:pPr algn="l" indent="0" marL="0">
              <a:lnSpc>
                <a:spcPct val="104000"/>
              </a:lnSpc>
              <a:buNone/>
            </a:pPr>
            <a:r>
              <a:rPr lang="en-US" sz="1150" spc="-23" kern="0" dirty="0">
                <a:solidFill>
                  <a:srgbClr val="000000"/>
                </a:solidFill>
                <a:latin typeface="Source Serif 4 SemiBold" pitchFamily="34" charset="0"/>
                <a:ea typeface="Source Serif 4 SemiBold" pitchFamily="34" charset="-122"/>
                <a:cs typeface="Source Serif 4 SemiBold" pitchFamily="34" charset="-120"/>
              </a:rPr>
              <a:t>Save Data (ডাটা সেভ)</a:t>
            </a:r>
            <a:endParaRPr lang="en-US" sz="1150" dirty="0"/>
          </a:p>
        </p:txBody>
      </p:sp>
      <p:sp>
        <p:nvSpPr>
          <p:cNvPr id="9" name="Text 5"/>
          <p:cNvSpPr/>
          <p:nvPr/>
        </p:nvSpPr>
        <p:spPr>
          <a:xfrm>
            <a:off x="5066638" y="4150851"/>
            <a:ext cx="2034650" cy="183975"/>
          </a:xfrm>
          <a:prstGeom prst="rect">
            <a:avLst/>
          </a:prstGeom>
          <a:noFill/>
          <a:ln/>
        </p:spPr>
        <p:txBody>
          <a:bodyPr wrap="none" lIns="0" tIns="0" rIns="0" bIns="0" rtlCol="0" anchor="t"/>
          <a:lstStyle/>
          <a:p>
            <a:pPr algn="l" indent="0" marL="0">
              <a:lnSpc>
                <a:spcPct val="104000"/>
              </a:lnSpc>
              <a:buNone/>
            </a:pPr>
            <a:r>
              <a:rPr lang="en-US" sz="1150" spc="-23" kern="0" dirty="0">
                <a:solidFill>
                  <a:srgbClr val="000000"/>
                </a:solidFill>
                <a:latin typeface="Source Serif 4 SemiBold" pitchFamily="34" charset="0"/>
                <a:ea typeface="Source Serif 4 SemiBold" pitchFamily="34" charset="-122"/>
                <a:cs typeface="Source Serif 4 SemiBold" pitchFamily="34" charset="-120"/>
              </a:rPr>
              <a:t>Capture Points (পয়েন্ট ক্যাপচার)</a:t>
            </a:r>
            <a:endParaRPr lang="en-US" sz="1150" dirty="0"/>
          </a:p>
        </p:txBody>
      </p:sp>
      <p:sp>
        <p:nvSpPr>
          <p:cNvPr id="10" name="Text 6"/>
          <p:cNvSpPr/>
          <p:nvPr/>
        </p:nvSpPr>
        <p:spPr>
          <a:xfrm>
            <a:off x="5066638" y="3462330"/>
            <a:ext cx="2332719" cy="183975"/>
          </a:xfrm>
          <a:prstGeom prst="rect">
            <a:avLst/>
          </a:prstGeom>
          <a:noFill/>
          <a:ln/>
        </p:spPr>
        <p:txBody>
          <a:bodyPr wrap="none" lIns="0" tIns="0" rIns="0" bIns="0" rtlCol="0" anchor="t"/>
          <a:lstStyle/>
          <a:p>
            <a:pPr algn="l" indent="0" marL="0">
              <a:lnSpc>
                <a:spcPct val="104000"/>
              </a:lnSpc>
              <a:buNone/>
            </a:pPr>
            <a:r>
              <a:rPr lang="en-US" sz="1150" spc="-23" kern="0" dirty="0">
                <a:solidFill>
                  <a:srgbClr val="000000"/>
                </a:solidFill>
                <a:latin typeface="Source Serif 4 SemiBold" pitchFamily="34" charset="0"/>
                <a:ea typeface="Source Serif 4 SemiBold" pitchFamily="34" charset="-122"/>
                <a:cs typeface="Source Serif 4 SemiBold" pitchFamily="34" charset="-120"/>
              </a:rPr>
              <a:t>Finger Movement (আঙুলের নড়াচড়া)</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98086" y="598091"/>
            <a:ext cx="10795524" cy="458391"/>
          </a:xfrm>
          <a:prstGeom prst="rect">
            <a:avLst/>
          </a:prstGeom>
          <a:noFill/>
          <a:ln/>
        </p:spPr>
        <p:txBody>
          <a:bodyPr wrap="none" lIns="0" tIns="0" rIns="0" bIns="0" rtlCol="0" anchor="t"/>
          <a:lstStyle/>
          <a:p>
            <a:pPr algn="l" indent="0" marL="0">
              <a:lnSpc>
                <a:spcPct val="104000"/>
              </a:lnSpc>
              <a:buNone/>
            </a:pPr>
            <a:r>
              <a:rPr lang="en-US" sz="2850" spc="-58" kern="0" dirty="0">
                <a:solidFill>
                  <a:srgbClr val="D73AD7"/>
                </a:solidFill>
                <a:latin typeface="Source Serif 4 SemiBold" pitchFamily="34" charset="0"/>
                <a:ea typeface="Source Serif 4 SemiBold" pitchFamily="34" charset="-122"/>
                <a:cs typeface="Source Serif 4 SemiBold" pitchFamily="34" charset="-120"/>
              </a:rPr>
              <a:t>Sticky Notes &amp; Reminders (স্টিকি নোট ও রিমাইন্ডার)</a:t>
            </a:r>
            <a:endParaRPr lang="en-US" sz="2850" dirty="0"/>
          </a:p>
        </p:txBody>
      </p:sp>
      <p:sp>
        <p:nvSpPr>
          <p:cNvPr id="3" name="Text 1"/>
          <p:cNvSpPr/>
          <p:nvPr/>
        </p:nvSpPr>
        <p:spPr>
          <a:xfrm>
            <a:off x="698086" y="1360785"/>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00" spc="-29" kern="0" dirty="0">
                <a:solidFill>
                  <a:srgbClr val="D73AD7"/>
                </a:solidFill>
                <a:latin typeface="Source Serif 4 SemiBold" pitchFamily="34" charset="0"/>
                <a:ea typeface="Source Serif 4 SemiBold" pitchFamily="34" charset="-122"/>
                <a:cs typeface="Source Serif 4 SemiBold" pitchFamily="34" charset="-120"/>
              </a:rPr>
              <a:t> How Sticky Notes Work (স্টিকি নোট কীভাবে কাজ করে)</a:t>
            </a:r>
            <a:endParaRPr lang="en-US" sz="1400" dirty="0"/>
          </a:p>
        </p:txBody>
      </p:sp>
      <p:sp>
        <p:nvSpPr>
          <p:cNvPr id="4" name="Text 2"/>
          <p:cNvSpPr/>
          <p:nvPr/>
        </p:nvSpPr>
        <p:spPr>
          <a:xfrm>
            <a:off x="698086" y="1726902"/>
            <a:ext cx="311638" cy="194766"/>
          </a:xfrm>
          <a:prstGeom prst="rect">
            <a:avLst/>
          </a:prstGeom>
          <a:noFill/>
          <a:ln/>
        </p:spPr>
        <p:txBody>
          <a:bodyPr wrap="none" lIns="0" tIns="0" rIns="0" bIns="0" rtlCol="0" anchor="ctr"/>
          <a:lstStyle/>
          <a:p>
            <a:pPr algn="l" indent="0" marL="0">
              <a:lnSpc>
                <a:spcPct val="100000"/>
              </a:lnSpc>
              <a:buNone/>
            </a:pPr>
            <a:r>
              <a:rPr lang="en-US" sz="1200" spc="-25" kern="0" dirty="0">
                <a:solidFill>
                  <a:srgbClr val="272525"/>
                </a:solidFill>
                <a:latin typeface="Source Serif 4 Light" pitchFamily="34" charset="0"/>
                <a:ea typeface="Source Serif 4 Light" pitchFamily="34" charset="-122"/>
                <a:cs typeface="Source Serif 4 Light" pitchFamily="34" charset="-120"/>
              </a:rPr>
              <a:t>01</a:t>
            </a:r>
            <a:endParaRPr lang="en-US" sz="1200" dirty="0"/>
          </a:p>
        </p:txBody>
      </p:sp>
      <p:sp>
        <p:nvSpPr>
          <p:cNvPr id="5" name="Shape 3"/>
          <p:cNvSpPr/>
          <p:nvPr/>
        </p:nvSpPr>
        <p:spPr>
          <a:xfrm>
            <a:off x="698086" y="1972667"/>
            <a:ext cx="5207663" cy="19050"/>
          </a:xfrm>
          <a:prstGeom prst="rect">
            <a:avLst/>
          </a:prstGeom>
          <a:solidFill>
            <a:srgbClr val="AF41F0"/>
          </a:solidFill>
          <a:ln/>
        </p:spPr>
      </p:sp>
      <p:sp>
        <p:nvSpPr>
          <p:cNvPr id="6" name="Text 4"/>
          <p:cNvSpPr/>
          <p:nvPr/>
        </p:nvSpPr>
        <p:spPr>
          <a:xfrm>
            <a:off x="698086" y="2088654"/>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272525"/>
                </a:solidFill>
                <a:latin typeface="Source Serif 4 SemiBold" pitchFamily="34" charset="0"/>
                <a:ea typeface="Source Serif 4 SemiBold" pitchFamily="34" charset="-122"/>
                <a:cs typeface="Source Serif 4 SemiBold" pitchFamily="34" charset="-120"/>
              </a:rPr>
              <a:t>Tap in Text Mode (টেক্সট মোডে ট্যাপ করুন)</a:t>
            </a:r>
            <a:endParaRPr lang="en-US" sz="1400" dirty="0"/>
          </a:p>
        </p:txBody>
      </p:sp>
      <p:sp>
        <p:nvSpPr>
          <p:cNvPr id="7" name="Text 5"/>
          <p:cNvSpPr/>
          <p:nvPr/>
        </p:nvSpPr>
        <p:spPr>
          <a:xfrm>
            <a:off x="698086" y="2439591"/>
            <a:ext cx="5207663" cy="222052"/>
          </a:xfrm>
          <a:prstGeom prst="rect">
            <a:avLst/>
          </a:prstGeom>
          <a:noFill/>
          <a:ln/>
        </p:spPr>
        <p:txBody>
          <a:bodyPr wrap="none" lIns="0" tIns="0" rIns="0" bIns="0" rtlCol="0" anchor="t"/>
          <a:lstStyle/>
          <a:p>
            <a:pPr algn="l" indent="0" marL="0">
              <a:lnSpc>
                <a:spcPct val="119000"/>
              </a:lnSpc>
              <a:buNone/>
            </a:pPr>
            <a:r>
              <a:rPr lang="en-US" sz="1200" spc="-25" kern="0" dirty="0">
                <a:solidFill>
                  <a:srgbClr val="272525"/>
                </a:solidFill>
                <a:latin typeface="Source Sans 3" pitchFamily="34" charset="0"/>
                <a:ea typeface="Source Sans 3" pitchFamily="34" charset="-122"/>
                <a:cs typeface="Source Sans 3" pitchFamily="34" charset="-120"/>
              </a:rPr>
              <a:t>Create a new note (একটি নতুন নোট তৈরি করুন)</a:t>
            </a:r>
            <a:endParaRPr lang="en-US" sz="1200" dirty="0"/>
          </a:p>
        </p:txBody>
      </p:sp>
      <p:sp>
        <p:nvSpPr>
          <p:cNvPr id="8" name="Text 6"/>
          <p:cNvSpPr/>
          <p:nvPr/>
        </p:nvSpPr>
        <p:spPr>
          <a:xfrm>
            <a:off x="698086" y="2900263"/>
            <a:ext cx="311638" cy="194766"/>
          </a:xfrm>
          <a:prstGeom prst="rect">
            <a:avLst/>
          </a:prstGeom>
          <a:noFill/>
          <a:ln/>
        </p:spPr>
        <p:txBody>
          <a:bodyPr wrap="none" lIns="0" tIns="0" rIns="0" bIns="0" rtlCol="0" anchor="ctr"/>
          <a:lstStyle/>
          <a:p>
            <a:pPr algn="l" indent="0" marL="0">
              <a:lnSpc>
                <a:spcPct val="100000"/>
              </a:lnSpc>
              <a:buNone/>
            </a:pPr>
            <a:r>
              <a:rPr lang="en-US" sz="1200" spc="-25" kern="0" dirty="0">
                <a:solidFill>
                  <a:srgbClr val="272525"/>
                </a:solidFill>
                <a:latin typeface="Source Serif 4 Light" pitchFamily="34" charset="0"/>
                <a:ea typeface="Source Serif 4 Light" pitchFamily="34" charset="-122"/>
                <a:cs typeface="Source Serif 4 Light" pitchFamily="34" charset="-120"/>
              </a:rPr>
              <a:t>02</a:t>
            </a:r>
            <a:endParaRPr lang="en-US" sz="1200" dirty="0"/>
          </a:p>
        </p:txBody>
      </p:sp>
      <p:sp>
        <p:nvSpPr>
          <p:cNvPr id="9" name="Shape 7"/>
          <p:cNvSpPr/>
          <p:nvPr/>
        </p:nvSpPr>
        <p:spPr>
          <a:xfrm>
            <a:off x="698086" y="3114873"/>
            <a:ext cx="5207663" cy="19050"/>
          </a:xfrm>
          <a:prstGeom prst="rect">
            <a:avLst/>
          </a:prstGeom>
          <a:solidFill>
            <a:srgbClr val="AF41F0"/>
          </a:solidFill>
          <a:ln/>
        </p:spPr>
      </p:sp>
      <p:sp>
        <p:nvSpPr>
          <p:cNvPr id="10" name="Text 8"/>
          <p:cNvSpPr/>
          <p:nvPr/>
        </p:nvSpPr>
        <p:spPr>
          <a:xfrm>
            <a:off x="698086" y="3262015"/>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272525"/>
                </a:solidFill>
                <a:latin typeface="Source Serif 4 SemiBold" pitchFamily="34" charset="0"/>
                <a:ea typeface="Source Serif 4 SemiBold" pitchFamily="34" charset="-122"/>
                <a:cs typeface="Source Serif 4 SemiBold" pitchFamily="34" charset="-120"/>
              </a:rPr>
              <a:t>Store the details (বিস্তারিত সংরক্ষণ করুন)</a:t>
            </a:r>
            <a:endParaRPr lang="en-US" sz="1400" dirty="0"/>
          </a:p>
        </p:txBody>
      </p:sp>
      <p:sp>
        <p:nvSpPr>
          <p:cNvPr id="11" name="Text 9"/>
          <p:cNvSpPr/>
          <p:nvPr/>
        </p:nvSpPr>
        <p:spPr>
          <a:xfrm>
            <a:off x="698086" y="3612952"/>
            <a:ext cx="5207663" cy="444103"/>
          </a:xfrm>
          <a:prstGeom prst="rect">
            <a:avLst/>
          </a:prstGeom>
          <a:noFill/>
          <a:ln/>
        </p:spPr>
        <p:txBody>
          <a:bodyPr wrap="square" lIns="0" tIns="0" rIns="0" bIns="0" rtlCol="0" anchor="t">
            <a:normAutofit/>
          </a:bodyPr>
          <a:lstStyle/>
          <a:p>
            <a:pPr algn="l" indent="0" marL="0">
              <a:lnSpc>
                <a:spcPct val="119000"/>
              </a:lnSpc>
              <a:buNone/>
            </a:pPr>
            <a:r>
              <a:rPr lang="en-US" sz="1200" spc="-25" kern="0" dirty="0">
                <a:solidFill>
                  <a:srgbClr val="272525"/>
                </a:solidFill>
                <a:latin typeface="Source Sans 3" pitchFamily="34" charset="0"/>
                <a:ea typeface="Source Sans 3" pitchFamily="34" charset="-122"/>
                <a:cs typeface="Source Sans 3" pitchFamily="34" charset="-120"/>
              </a:rPr>
              <a:t>Each note stores text, position, size, color, and formatting (প্রতিটি নোটে টেক্সট, অবস্থান, আকার, রঙ, এবং ফরম্যাটিং সংরক্ষিত থাকে)</a:t>
            </a:r>
            <a:endParaRPr lang="en-US" sz="1200" dirty="0"/>
          </a:p>
        </p:txBody>
      </p:sp>
      <p:sp>
        <p:nvSpPr>
          <p:cNvPr id="12" name="Text 10"/>
          <p:cNvSpPr/>
          <p:nvPr/>
        </p:nvSpPr>
        <p:spPr>
          <a:xfrm>
            <a:off x="698086" y="4295676"/>
            <a:ext cx="311638" cy="194766"/>
          </a:xfrm>
          <a:prstGeom prst="rect">
            <a:avLst/>
          </a:prstGeom>
          <a:noFill/>
          <a:ln/>
        </p:spPr>
        <p:txBody>
          <a:bodyPr wrap="none" lIns="0" tIns="0" rIns="0" bIns="0" rtlCol="0" anchor="ctr"/>
          <a:lstStyle/>
          <a:p>
            <a:pPr algn="l" indent="0" marL="0">
              <a:lnSpc>
                <a:spcPct val="100000"/>
              </a:lnSpc>
              <a:buNone/>
            </a:pPr>
            <a:r>
              <a:rPr lang="en-US" sz="1200" spc="-25" kern="0" dirty="0">
                <a:solidFill>
                  <a:srgbClr val="272525"/>
                </a:solidFill>
                <a:latin typeface="Source Serif 4 Light" pitchFamily="34" charset="0"/>
                <a:ea typeface="Source Serif 4 Light" pitchFamily="34" charset="-122"/>
                <a:cs typeface="Source Serif 4 Light" pitchFamily="34" charset="-120"/>
              </a:rPr>
              <a:t>03</a:t>
            </a:r>
            <a:endParaRPr lang="en-US" sz="1200" dirty="0"/>
          </a:p>
        </p:txBody>
      </p:sp>
      <p:sp>
        <p:nvSpPr>
          <p:cNvPr id="13" name="Shape 11"/>
          <p:cNvSpPr/>
          <p:nvPr/>
        </p:nvSpPr>
        <p:spPr>
          <a:xfrm>
            <a:off x="698086" y="4479131"/>
            <a:ext cx="5207663" cy="19050"/>
          </a:xfrm>
          <a:prstGeom prst="rect">
            <a:avLst/>
          </a:prstGeom>
          <a:solidFill>
            <a:srgbClr val="AF41F0"/>
          </a:solidFill>
          <a:ln/>
        </p:spPr>
      </p:sp>
      <p:sp>
        <p:nvSpPr>
          <p:cNvPr id="14" name="Text 12"/>
          <p:cNvSpPr/>
          <p:nvPr/>
        </p:nvSpPr>
        <p:spPr>
          <a:xfrm>
            <a:off x="698086" y="4657427"/>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272525"/>
                </a:solidFill>
                <a:latin typeface="Source Serif 4 SemiBold" pitchFamily="34" charset="0"/>
                <a:ea typeface="Source Serif 4 SemiBold" pitchFamily="34" charset="-122"/>
                <a:cs typeface="Source Serif 4 SemiBold" pitchFamily="34" charset="-120"/>
              </a:rPr>
              <a:t>Manage anytime (যেকোনো সময় পরিচালনা করুন)</a:t>
            </a:r>
            <a:endParaRPr lang="en-US" sz="1400" dirty="0"/>
          </a:p>
        </p:txBody>
      </p:sp>
      <p:sp>
        <p:nvSpPr>
          <p:cNvPr id="15" name="Text 13"/>
          <p:cNvSpPr/>
          <p:nvPr/>
        </p:nvSpPr>
        <p:spPr>
          <a:xfrm>
            <a:off x="698086" y="5008364"/>
            <a:ext cx="5207663" cy="444103"/>
          </a:xfrm>
          <a:prstGeom prst="rect">
            <a:avLst/>
          </a:prstGeom>
          <a:noFill/>
          <a:ln/>
        </p:spPr>
        <p:txBody>
          <a:bodyPr wrap="square" lIns="0" tIns="0" rIns="0" bIns="0" rtlCol="0" anchor="t">
            <a:normAutofit/>
          </a:bodyPr>
          <a:lstStyle/>
          <a:p>
            <a:pPr algn="l" indent="0" marL="0">
              <a:lnSpc>
                <a:spcPct val="119000"/>
              </a:lnSpc>
              <a:buNone/>
            </a:pPr>
            <a:r>
              <a:rPr lang="en-US" sz="1200" spc="-25" kern="0" dirty="0">
                <a:solidFill>
                  <a:srgbClr val="272525"/>
                </a:solidFill>
                <a:latin typeface="Source Sans 3" pitchFamily="34" charset="0"/>
                <a:ea typeface="Source Sans 3" pitchFamily="34" charset="-122"/>
                <a:cs typeface="Source Sans 3" pitchFamily="34" charset="-120"/>
              </a:rPr>
              <a:t>Move, resize, edit, or delete notes anytime (যেকোনো সময় নোট সরান, আকার বদলান, সম্পাদনা করুন, বা মুছুন)</a:t>
            </a:r>
            <a:endParaRPr lang="en-US" sz="1200" dirty="0"/>
          </a:p>
        </p:txBody>
      </p:sp>
      <p:sp>
        <p:nvSpPr>
          <p:cNvPr id="16" name="Text 14"/>
          <p:cNvSpPr/>
          <p:nvPr/>
        </p:nvSpPr>
        <p:spPr>
          <a:xfrm>
            <a:off x="6292296" y="1360785"/>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00" spc="-29" kern="0" dirty="0">
                <a:solidFill>
                  <a:srgbClr val="D73AD7"/>
                </a:solidFill>
                <a:latin typeface="Source Serif 4 SemiBold" pitchFamily="34" charset="0"/>
                <a:ea typeface="Source Serif 4 SemiBold" pitchFamily="34" charset="-122"/>
                <a:cs typeface="Source Serif 4 SemiBold" pitchFamily="34" charset="-120"/>
              </a:rPr>
              <a:t> How Reminders Work (রিমাইন্ডার কীভাবে কাজ করে)</a:t>
            </a:r>
            <a:endParaRPr lang="en-US" sz="1400" dirty="0"/>
          </a:p>
        </p:txBody>
      </p:sp>
      <p:sp>
        <p:nvSpPr>
          <p:cNvPr id="17" name="Text 15"/>
          <p:cNvSpPr/>
          <p:nvPr/>
        </p:nvSpPr>
        <p:spPr>
          <a:xfrm>
            <a:off x="6292296" y="1726902"/>
            <a:ext cx="311638" cy="194766"/>
          </a:xfrm>
          <a:prstGeom prst="rect">
            <a:avLst/>
          </a:prstGeom>
          <a:noFill/>
          <a:ln/>
        </p:spPr>
        <p:txBody>
          <a:bodyPr wrap="none" lIns="0" tIns="0" rIns="0" bIns="0" rtlCol="0" anchor="ctr"/>
          <a:lstStyle/>
          <a:p>
            <a:pPr algn="l" indent="0" marL="0">
              <a:lnSpc>
                <a:spcPct val="100000"/>
              </a:lnSpc>
              <a:buNone/>
            </a:pPr>
            <a:r>
              <a:rPr lang="en-US" sz="1200" spc="-25" kern="0" dirty="0">
                <a:solidFill>
                  <a:srgbClr val="272525"/>
                </a:solidFill>
                <a:latin typeface="Source Serif 4 Light" pitchFamily="34" charset="0"/>
                <a:ea typeface="Source Serif 4 Light" pitchFamily="34" charset="-122"/>
                <a:cs typeface="Source Serif 4 Light" pitchFamily="34" charset="-120"/>
              </a:rPr>
              <a:t>01</a:t>
            </a:r>
            <a:endParaRPr lang="en-US" sz="1200" dirty="0"/>
          </a:p>
        </p:txBody>
      </p:sp>
      <p:sp>
        <p:nvSpPr>
          <p:cNvPr id="18" name="Shape 16"/>
          <p:cNvSpPr/>
          <p:nvPr/>
        </p:nvSpPr>
        <p:spPr>
          <a:xfrm>
            <a:off x="6292296" y="1972667"/>
            <a:ext cx="5207663" cy="19050"/>
          </a:xfrm>
          <a:prstGeom prst="rect">
            <a:avLst/>
          </a:prstGeom>
          <a:solidFill>
            <a:srgbClr val="AF41F0"/>
          </a:solidFill>
          <a:ln/>
        </p:spPr>
      </p:sp>
      <p:sp>
        <p:nvSpPr>
          <p:cNvPr id="19" name="Text 17"/>
          <p:cNvSpPr/>
          <p:nvPr/>
        </p:nvSpPr>
        <p:spPr>
          <a:xfrm>
            <a:off x="6292296" y="2088654"/>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272525"/>
                </a:solidFill>
                <a:latin typeface="Source Serif 4 SemiBold" pitchFamily="34" charset="0"/>
                <a:ea typeface="Source Serif 4 SemiBold" pitchFamily="34" charset="-122"/>
                <a:cs typeface="Source Serif 4 SemiBold" pitchFamily="34" charset="-120"/>
              </a:rPr>
              <a:t>Select date and time (তারিখ ও সময় নির্বাচন করুন)</a:t>
            </a:r>
            <a:endParaRPr lang="en-US" sz="1400" dirty="0"/>
          </a:p>
        </p:txBody>
      </p:sp>
      <p:sp>
        <p:nvSpPr>
          <p:cNvPr id="20" name="Text 18"/>
          <p:cNvSpPr/>
          <p:nvPr/>
        </p:nvSpPr>
        <p:spPr>
          <a:xfrm>
            <a:off x="6292296" y="2439591"/>
            <a:ext cx="5207663" cy="222052"/>
          </a:xfrm>
          <a:prstGeom prst="rect">
            <a:avLst/>
          </a:prstGeom>
          <a:noFill/>
          <a:ln/>
        </p:spPr>
        <p:txBody>
          <a:bodyPr wrap="none" lIns="0" tIns="0" rIns="0" bIns="0" rtlCol="0" anchor="t"/>
          <a:lstStyle/>
          <a:p>
            <a:pPr algn="l" indent="0" marL="0">
              <a:lnSpc>
                <a:spcPct val="119000"/>
              </a:lnSpc>
              <a:buNone/>
            </a:pPr>
            <a:r>
              <a:rPr lang="en-US" sz="1200" spc="-25" kern="0" dirty="0">
                <a:solidFill>
                  <a:srgbClr val="272525"/>
                </a:solidFill>
                <a:latin typeface="Source Sans 3" pitchFamily="34" charset="0"/>
                <a:ea typeface="Source Sans 3" pitchFamily="34" charset="-122"/>
                <a:cs typeface="Source Sans 3" pitchFamily="34" charset="-120"/>
              </a:rPr>
              <a:t>Set a reminder with a custom sound (নিজস্ব সাউন্ডসহ রিমাইন্ডার সেট করুন)</a:t>
            </a:r>
            <a:endParaRPr lang="en-US" sz="1200" dirty="0"/>
          </a:p>
        </p:txBody>
      </p:sp>
      <p:sp>
        <p:nvSpPr>
          <p:cNvPr id="21" name="Text 19"/>
          <p:cNvSpPr/>
          <p:nvPr/>
        </p:nvSpPr>
        <p:spPr>
          <a:xfrm>
            <a:off x="6292296" y="2900263"/>
            <a:ext cx="311638" cy="194766"/>
          </a:xfrm>
          <a:prstGeom prst="rect">
            <a:avLst/>
          </a:prstGeom>
          <a:noFill/>
          <a:ln/>
        </p:spPr>
        <p:txBody>
          <a:bodyPr wrap="none" lIns="0" tIns="0" rIns="0" bIns="0" rtlCol="0" anchor="ctr"/>
          <a:lstStyle/>
          <a:p>
            <a:pPr algn="l" indent="0" marL="0">
              <a:lnSpc>
                <a:spcPct val="100000"/>
              </a:lnSpc>
              <a:buNone/>
            </a:pPr>
            <a:r>
              <a:rPr lang="en-US" sz="1200" spc="-25" kern="0" dirty="0">
                <a:solidFill>
                  <a:srgbClr val="272525"/>
                </a:solidFill>
                <a:latin typeface="Source Serif 4 Light" pitchFamily="34" charset="0"/>
                <a:ea typeface="Source Serif 4 Light" pitchFamily="34" charset="-122"/>
                <a:cs typeface="Source Serif 4 Light" pitchFamily="34" charset="-120"/>
              </a:rPr>
              <a:t>02</a:t>
            </a:r>
            <a:endParaRPr lang="en-US" sz="1200" dirty="0"/>
          </a:p>
        </p:txBody>
      </p:sp>
      <p:sp>
        <p:nvSpPr>
          <p:cNvPr id="22" name="Shape 20"/>
          <p:cNvSpPr/>
          <p:nvPr/>
        </p:nvSpPr>
        <p:spPr>
          <a:xfrm>
            <a:off x="6292296" y="3130451"/>
            <a:ext cx="5207663" cy="19050"/>
          </a:xfrm>
          <a:prstGeom prst="rect">
            <a:avLst/>
          </a:prstGeom>
          <a:solidFill>
            <a:srgbClr val="AF41F0"/>
          </a:solidFill>
          <a:ln/>
        </p:spPr>
      </p:sp>
      <p:sp>
        <p:nvSpPr>
          <p:cNvPr id="23" name="Text 21"/>
          <p:cNvSpPr/>
          <p:nvPr/>
        </p:nvSpPr>
        <p:spPr>
          <a:xfrm>
            <a:off x="6292296" y="3262015"/>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272525"/>
                </a:solidFill>
                <a:latin typeface="Source Serif 4 SemiBold" pitchFamily="34" charset="0"/>
                <a:ea typeface="Source Serif 4 SemiBold" pitchFamily="34" charset="-122"/>
                <a:cs typeface="Source Serif 4 SemiBold" pitchFamily="34" charset="-120"/>
              </a:rPr>
              <a:t>Android schedules the alarm (অ্যান্ড্রয়েড অ্যালার্ম নির্ধারণ করে)</a:t>
            </a:r>
            <a:endParaRPr lang="en-US" sz="1400" dirty="0"/>
          </a:p>
        </p:txBody>
      </p:sp>
      <p:sp>
        <p:nvSpPr>
          <p:cNvPr id="24" name="Text 22"/>
          <p:cNvSpPr/>
          <p:nvPr/>
        </p:nvSpPr>
        <p:spPr>
          <a:xfrm>
            <a:off x="6292296" y="3612952"/>
            <a:ext cx="5207663" cy="444103"/>
          </a:xfrm>
          <a:prstGeom prst="rect">
            <a:avLst/>
          </a:prstGeom>
          <a:noFill/>
          <a:ln/>
        </p:spPr>
        <p:txBody>
          <a:bodyPr wrap="square" lIns="0" tIns="0" rIns="0" bIns="0" rtlCol="0" anchor="t">
            <a:normAutofit/>
          </a:bodyPr>
          <a:lstStyle/>
          <a:p>
            <a:pPr algn="l" indent="0" marL="0">
              <a:lnSpc>
                <a:spcPct val="119000"/>
              </a:lnSpc>
              <a:buNone/>
            </a:pPr>
            <a:r>
              <a:rPr lang="en-US" sz="1200" spc="-25" kern="0" dirty="0">
                <a:solidFill>
                  <a:srgbClr val="272525"/>
                </a:solidFill>
                <a:latin typeface="Source Sans 3" pitchFamily="34" charset="0"/>
                <a:ea typeface="Source Sans 3" pitchFamily="34" charset="-122"/>
                <a:cs typeface="Source Sans 3" pitchFamily="34" charset="-120"/>
              </a:rPr>
              <a:t>The system sets the alarm for the chosen time (সিস্টেম নির্বাচিত সময়ের জন্য অ্যালার্ম সেট করে)</a:t>
            </a:r>
            <a:endParaRPr lang="en-US" sz="1200" dirty="0"/>
          </a:p>
        </p:txBody>
      </p:sp>
      <p:sp>
        <p:nvSpPr>
          <p:cNvPr id="25" name="Text 23"/>
          <p:cNvSpPr/>
          <p:nvPr/>
        </p:nvSpPr>
        <p:spPr>
          <a:xfrm>
            <a:off x="6292296" y="4295676"/>
            <a:ext cx="311638" cy="194766"/>
          </a:xfrm>
          <a:prstGeom prst="rect">
            <a:avLst/>
          </a:prstGeom>
          <a:noFill/>
          <a:ln/>
        </p:spPr>
        <p:txBody>
          <a:bodyPr wrap="none" lIns="0" tIns="0" rIns="0" bIns="0" rtlCol="0" anchor="ctr"/>
          <a:lstStyle/>
          <a:p>
            <a:pPr algn="l" indent="0" marL="0">
              <a:lnSpc>
                <a:spcPct val="100000"/>
              </a:lnSpc>
              <a:buNone/>
            </a:pPr>
            <a:r>
              <a:rPr lang="en-US" sz="1200" spc="-25" kern="0" dirty="0">
                <a:solidFill>
                  <a:srgbClr val="272525"/>
                </a:solidFill>
                <a:latin typeface="Source Serif 4 Light" pitchFamily="34" charset="0"/>
                <a:ea typeface="Source Serif 4 Light" pitchFamily="34" charset="-122"/>
                <a:cs typeface="Source Serif 4 Light" pitchFamily="34" charset="-120"/>
              </a:rPr>
              <a:t>03</a:t>
            </a:r>
            <a:endParaRPr lang="en-US" sz="1200" dirty="0"/>
          </a:p>
        </p:txBody>
      </p:sp>
      <p:sp>
        <p:nvSpPr>
          <p:cNvPr id="26" name="Shape 24"/>
          <p:cNvSpPr/>
          <p:nvPr/>
        </p:nvSpPr>
        <p:spPr>
          <a:xfrm>
            <a:off x="6292296" y="4510286"/>
            <a:ext cx="5207663" cy="19050"/>
          </a:xfrm>
          <a:prstGeom prst="rect">
            <a:avLst/>
          </a:prstGeom>
          <a:solidFill>
            <a:srgbClr val="AF41F0"/>
          </a:solidFill>
          <a:ln/>
        </p:spPr>
      </p:sp>
      <p:sp>
        <p:nvSpPr>
          <p:cNvPr id="27" name="Text 25"/>
          <p:cNvSpPr/>
          <p:nvPr/>
        </p:nvSpPr>
        <p:spPr>
          <a:xfrm>
            <a:off x="6292296" y="4657427"/>
            <a:ext cx="5207663" cy="229195"/>
          </a:xfrm>
          <a:prstGeom prst="rect">
            <a:avLst/>
          </a:prstGeom>
          <a:noFill/>
          <a:ln/>
        </p:spPr>
        <p:txBody>
          <a:bodyPr wrap="none" lIns="0" tIns="0" rIns="0" bIns="0" rtlCol="0" anchor="t"/>
          <a:lstStyle/>
          <a:p>
            <a:pPr algn="l" indent="0" marL="0">
              <a:lnSpc>
                <a:spcPct val="104000"/>
              </a:lnSpc>
              <a:buNone/>
            </a:pPr>
            <a:r>
              <a:rPr lang="en-US" sz="1400" spc="-29" kern="0" dirty="0">
                <a:solidFill>
                  <a:srgbClr val="272525"/>
                </a:solidFill>
                <a:latin typeface="Source Serif 4 SemiBold" pitchFamily="34" charset="0"/>
                <a:ea typeface="Source Serif 4 SemiBold" pitchFamily="34" charset="-122"/>
                <a:cs typeface="Source Serif 4 SemiBold" pitchFamily="34" charset="-120"/>
              </a:rPr>
              <a:t>Notification appears (নোটিফিকেশন দেখা যায়)</a:t>
            </a:r>
            <a:endParaRPr lang="en-US" sz="1400" dirty="0"/>
          </a:p>
        </p:txBody>
      </p:sp>
      <p:sp>
        <p:nvSpPr>
          <p:cNvPr id="28" name="Text 26"/>
          <p:cNvSpPr/>
          <p:nvPr/>
        </p:nvSpPr>
        <p:spPr>
          <a:xfrm>
            <a:off x="6292296" y="5008364"/>
            <a:ext cx="5207663" cy="997744"/>
          </a:xfrm>
          <a:prstGeom prst="rect">
            <a:avLst/>
          </a:prstGeom>
          <a:noFill/>
          <a:ln/>
        </p:spPr>
        <p:txBody>
          <a:bodyPr wrap="square" lIns="0" tIns="0" rIns="0" bIns="0" rtlCol="0" anchor="t">
            <a:normAutofit/>
          </a:bodyPr>
          <a:lstStyle/>
          <a:p>
            <a:pPr algn="l" indent="0" marL="0">
              <a:lnSpc>
                <a:spcPct val="119000"/>
              </a:lnSpc>
              <a:spcAft>
                <a:spcPts val="850"/>
              </a:spcAft>
              <a:buNone/>
            </a:pPr>
            <a:r>
              <a:rPr lang="en-US" sz="1200" spc="-25" kern="0" dirty="0">
                <a:solidFill>
                  <a:srgbClr val="272525"/>
                </a:solidFill>
                <a:latin typeface="Source Sans 3" pitchFamily="34" charset="0"/>
                <a:ea typeface="Source Sans 3" pitchFamily="34" charset="-122"/>
                <a:cs typeface="Source Sans 3" pitchFamily="34" charset="-120"/>
              </a:rPr>
              <a:t>At the set time, a notification appears with sound and vibration (নির্ধারিত সময়ে সাউন্ড ও ভাইব্রেশনের সাথে একটি নোটিফিকেশন আসে)</a:t>
            </a:r>
            <a:endParaRPr lang="en-US" sz="1200" dirty="0"/>
          </a:p>
          <a:p>
            <a:pPr algn="l" indent="0" marL="0">
              <a:lnSpc>
                <a:spcPct val="119000"/>
              </a:lnSpc>
              <a:buNone/>
            </a:pPr>
            <a:r>
              <a:rPr lang="en-US" sz="1200" spc="-25" kern="0" dirty="0">
                <a:solidFill>
                  <a:srgbClr val="272525"/>
                </a:solidFill>
                <a:latin typeface="Source Sans 3" pitchFamily="34" charset="0"/>
                <a:ea typeface="Source Sans 3" pitchFamily="34" charset="-122"/>
                <a:cs typeface="Source Sans 3" pitchFamily="34" charset="-120"/>
              </a:rPr>
              <a:t>You can dismiss or snooze (reschedules for 10 minutes later) (আপনি dismiss করতে পারেন বা snooze করতে পারেন—তাহলে ১০ মিনিট পরে আবার নির্ধারিত হবে)</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4D4F7"/>
          </a:solidFill>
          <a:ln/>
        </p:spPr>
      </p:sp>
      <p:pic>
        <p:nvPicPr>
          <p:cNvPr id="3" name="Image 0" descr="preencoded.png">    </p:cNvPr>
          <p:cNvPicPr>
            <a:picLocks noChangeAspect="1"/>
          </p:cNvPicPr>
          <p:nvPr/>
        </p:nvPicPr>
        <p:blipFill>
          <a:blip r:embed="rId1"/>
          <a:stretch>
            <a:fillRect/>
          </a:stretch>
        </p:blipFill>
        <p:spPr>
          <a:xfrm>
            <a:off x="7685193" y="468213"/>
            <a:ext cx="4441019" cy="5921573"/>
          </a:xfrm>
          <a:prstGeom prst="rect">
            <a:avLst/>
          </a:prstGeom>
        </p:spPr>
      </p:pic>
      <p:sp>
        <p:nvSpPr>
          <p:cNvPr id="4" name="Text 1"/>
          <p:cNvSpPr/>
          <p:nvPr/>
        </p:nvSpPr>
        <p:spPr>
          <a:xfrm>
            <a:off x="698086" y="838101"/>
            <a:ext cx="6223638" cy="385068"/>
          </a:xfrm>
          <a:prstGeom prst="rect">
            <a:avLst/>
          </a:prstGeom>
          <a:noFill/>
          <a:ln/>
        </p:spPr>
        <p:txBody>
          <a:bodyPr wrap="none" lIns="0" tIns="0" rIns="0" bIns="0" rtlCol="0" anchor="t"/>
          <a:lstStyle/>
          <a:p>
            <a:pPr algn="l" indent="0" marL="0">
              <a:lnSpc>
                <a:spcPct val="104000"/>
              </a:lnSpc>
              <a:buNone/>
            </a:pPr>
            <a:r>
              <a:rPr lang="en-US" sz="2400" spc="-49" kern="0" dirty="0">
                <a:solidFill>
                  <a:srgbClr val="D73AD7"/>
                </a:solidFill>
                <a:latin typeface="Source Serif 4 SemiBold" pitchFamily="34" charset="0"/>
                <a:ea typeface="Source Serif 4 SemiBold" pitchFamily="34" charset="-122"/>
                <a:cs typeface="Source Serif 4 SemiBold" pitchFamily="34" charset="-120"/>
              </a:rPr>
              <a:t>Conclusion (উপসংহার)</a:t>
            </a:r>
            <a:endParaRPr lang="en-US" sz="2400" dirty="0"/>
          </a:p>
        </p:txBody>
      </p:sp>
      <p:sp>
        <p:nvSpPr>
          <p:cNvPr id="5" name="Shape 2"/>
          <p:cNvSpPr/>
          <p:nvPr/>
        </p:nvSpPr>
        <p:spPr>
          <a:xfrm>
            <a:off x="698086" y="1351955"/>
            <a:ext cx="294474" cy="294481"/>
          </a:xfrm>
          <a:prstGeom prst="roundRect">
            <a:avLst>
              <a:gd name="adj" fmla="val 18671"/>
            </a:avLst>
          </a:prstGeom>
          <a:solidFill>
            <a:srgbClr val="F4D4F7"/>
          </a:solidFill>
          <a:ln w="6350">
            <a:solidFill>
              <a:srgbClr val="DABADD"/>
            </a:solidFill>
            <a:prstDash val="solid"/>
          </a:ln>
        </p:spPr>
      </p:sp>
      <p:sp>
        <p:nvSpPr>
          <p:cNvPr id="6" name="Text 3"/>
          <p:cNvSpPr/>
          <p:nvPr/>
        </p:nvSpPr>
        <p:spPr>
          <a:xfrm>
            <a:off x="1078382" y="1394420"/>
            <a:ext cx="5843342" cy="346670"/>
          </a:xfrm>
          <a:prstGeom prst="rect">
            <a:avLst/>
          </a:prstGeom>
          <a:noFill/>
          <a:ln/>
        </p:spPr>
        <p:txBody>
          <a:bodyPr wrap="square" lIns="0" tIns="0" rIns="0" bIns="0" rtlCol="0" anchor="t">
            <a:normAutofit/>
          </a:bodyPr>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DoodleDates combines calendar, handwriting, notes, and reminders (ক্যালেন্ডার, হাতের লেখা, নোট, এবং রিমাইন্ডার একসাথে)</a:t>
            </a:r>
            <a:endParaRPr lang="en-US" sz="1000" dirty="0"/>
          </a:p>
        </p:txBody>
      </p:sp>
      <p:sp>
        <p:nvSpPr>
          <p:cNvPr id="7" name="Shape 4"/>
          <p:cNvSpPr/>
          <p:nvPr/>
        </p:nvSpPr>
        <p:spPr>
          <a:xfrm>
            <a:off x="698086" y="1912838"/>
            <a:ext cx="294474" cy="294481"/>
          </a:xfrm>
          <a:prstGeom prst="roundRect">
            <a:avLst>
              <a:gd name="adj" fmla="val 18671"/>
            </a:avLst>
          </a:prstGeom>
          <a:solidFill>
            <a:srgbClr val="F4D4F7"/>
          </a:solidFill>
          <a:ln w="6350">
            <a:solidFill>
              <a:srgbClr val="DABADD"/>
            </a:solidFill>
            <a:prstDash val="solid"/>
          </a:ln>
        </p:spPr>
      </p:sp>
      <p:sp>
        <p:nvSpPr>
          <p:cNvPr id="8" name="Text 5"/>
          <p:cNvSpPr/>
          <p:nvPr/>
        </p:nvSpPr>
        <p:spPr>
          <a:xfrm>
            <a:off x="1078382" y="1955304"/>
            <a:ext cx="5843342" cy="173335"/>
          </a:xfrm>
          <a:prstGeom prst="rect">
            <a:avLst/>
          </a:prstGeom>
          <a:noFill/>
          <a:ln/>
        </p:spPr>
        <p:txBody>
          <a:bodyPr wrap="none" lIns="0" tIns="0" rIns="0" bIns="0" rtlCol="0" anchor="t"/>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Designed as a personal offline diary for creative expression (সৃজনশীল প্রকাশের জন্য ব্যক্তিগত অফলাইন ডায়েরি)</a:t>
            </a:r>
            <a:endParaRPr lang="en-US" sz="1000" dirty="0"/>
          </a:p>
        </p:txBody>
      </p:sp>
      <p:sp>
        <p:nvSpPr>
          <p:cNvPr id="9" name="Shape 6"/>
          <p:cNvSpPr/>
          <p:nvPr/>
        </p:nvSpPr>
        <p:spPr>
          <a:xfrm>
            <a:off x="698086" y="2379067"/>
            <a:ext cx="294474" cy="294481"/>
          </a:xfrm>
          <a:prstGeom prst="roundRect">
            <a:avLst>
              <a:gd name="adj" fmla="val 18671"/>
            </a:avLst>
          </a:prstGeom>
          <a:solidFill>
            <a:srgbClr val="F4D4F7"/>
          </a:solidFill>
          <a:ln w="6350">
            <a:solidFill>
              <a:srgbClr val="DABADD"/>
            </a:solidFill>
            <a:prstDash val="solid"/>
          </a:ln>
        </p:spPr>
      </p:sp>
      <p:sp>
        <p:nvSpPr>
          <p:cNvPr id="10" name="Text 7"/>
          <p:cNvSpPr/>
          <p:nvPr/>
        </p:nvSpPr>
        <p:spPr>
          <a:xfrm>
            <a:off x="1078382" y="2421533"/>
            <a:ext cx="5843342" cy="173335"/>
          </a:xfrm>
          <a:prstGeom prst="rect">
            <a:avLst/>
          </a:prstGeom>
          <a:noFill/>
          <a:ln/>
        </p:spPr>
        <p:txBody>
          <a:bodyPr wrap="none" lIns="0" tIns="0" rIns="0" bIns="0" rtlCol="0" anchor="t"/>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All data stays on your device, private and secure (সব ডেটা আপনার ডিভাইসেই থাকে, ব্যক্তিগত ও নিরাপদ)</a:t>
            </a:r>
            <a:endParaRPr lang="en-US" sz="1000" dirty="0"/>
          </a:p>
        </p:txBody>
      </p:sp>
      <p:sp>
        <p:nvSpPr>
          <p:cNvPr id="11" name="Shape 8"/>
          <p:cNvSpPr/>
          <p:nvPr/>
        </p:nvSpPr>
        <p:spPr>
          <a:xfrm>
            <a:off x="698086" y="2845296"/>
            <a:ext cx="294474" cy="294481"/>
          </a:xfrm>
          <a:prstGeom prst="roundRect">
            <a:avLst>
              <a:gd name="adj" fmla="val 18671"/>
            </a:avLst>
          </a:prstGeom>
          <a:solidFill>
            <a:srgbClr val="F4D4F7"/>
          </a:solidFill>
          <a:ln w="6350">
            <a:solidFill>
              <a:srgbClr val="DABADD"/>
            </a:solidFill>
            <a:prstDash val="solid"/>
          </a:ln>
        </p:spPr>
      </p:sp>
      <p:sp>
        <p:nvSpPr>
          <p:cNvPr id="12" name="Text 9"/>
          <p:cNvSpPr/>
          <p:nvPr/>
        </p:nvSpPr>
        <p:spPr>
          <a:xfrm>
            <a:off x="1078382" y="2887762"/>
            <a:ext cx="5843342" cy="346670"/>
          </a:xfrm>
          <a:prstGeom prst="rect">
            <a:avLst/>
          </a:prstGeom>
          <a:noFill/>
          <a:ln/>
        </p:spPr>
        <p:txBody>
          <a:bodyPr wrap="square" lIns="0" tIns="0" rIns="0" bIns="0" rtlCol="0" anchor="t">
            <a:normAutofit/>
          </a:bodyPr>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Makes calendar interaction more personal and memorable (ক্যালেন্ডার ব্যবহারকে আরও ব্যক্তিগত ও স্মরণীয় করে তোলে)</a:t>
            </a:r>
            <a:endParaRPr lang="en-US" sz="1000" dirty="0"/>
          </a:p>
        </p:txBody>
      </p:sp>
      <p:sp>
        <p:nvSpPr>
          <p:cNvPr id="13" name="Text 10"/>
          <p:cNvSpPr/>
          <p:nvPr/>
        </p:nvSpPr>
        <p:spPr>
          <a:xfrm>
            <a:off x="698086" y="3363218"/>
            <a:ext cx="6223638" cy="2656582"/>
          </a:xfrm>
          <a:prstGeom prst="rect">
            <a:avLst/>
          </a:prstGeom>
          <a:noFill/>
          <a:ln/>
        </p:spPr>
        <p:txBody>
          <a:bodyPr wrap="square" lIns="0" tIns="0" rIns="0" bIns="0" rtlCol="0" anchor="t">
            <a:normAutofit/>
          </a:bodyPr>
          <a:lstStyle/>
          <a:p>
            <a:pPr algn="l" indent="0" marL="0">
              <a:lnSpc>
                <a:spcPct val="104000"/>
              </a:lnSpc>
              <a:buNone/>
            </a:pPr>
            <a:r>
              <a:rPr lang="en-US" sz="3300" spc="-67" kern="0" dirty="0">
                <a:solidFill>
                  <a:srgbClr val="D73AD7"/>
                </a:solidFill>
                <a:latin typeface="Source Serif 4 SemiBold" pitchFamily="34" charset="0"/>
                <a:ea typeface="Source Serif 4 SemiBold" pitchFamily="34" charset="-122"/>
                <a:cs typeface="Source Serif 4 SemiBold" pitchFamily="34" charset="-120"/>
              </a:rPr>
              <a:t>DoodleDates turns a normal calendar into a personal memory canvas. (DoodleDates সাধারণ ক্যালেন্ডারকে একটি ব্যক্তিগত মেমরি ক্যানভাসে রূপান্তর করে।)</a:t>
            </a:r>
            <a:endParaRPr lang="en-US" sz="3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98086" y="599281"/>
            <a:ext cx="10795524" cy="513259"/>
          </a:xfrm>
          <a:prstGeom prst="rect">
            <a:avLst/>
          </a:prstGeom>
          <a:noFill/>
          <a:ln/>
        </p:spPr>
        <p:txBody>
          <a:bodyPr wrap="none" lIns="0" tIns="0" rIns="0" bIns="0" rtlCol="0" anchor="t"/>
          <a:lstStyle/>
          <a:p>
            <a:pPr algn="l" indent="0" marL="0">
              <a:lnSpc>
                <a:spcPct val="104000"/>
              </a:lnSpc>
              <a:buNone/>
            </a:pPr>
            <a:r>
              <a:rPr lang="en-US" sz="3200" spc="-65" kern="0" dirty="0">
                <a:solidFill>
                  <a:srgbClr val="D73AD7"/>
                </a:solidFill>
                <a:latin typeface="Source Serif 4 SemiBold" pitchFamily="34" charset="0"/>
                <a:ea typeface="Source Serif 4 SemiBold" pitchFamily="34" charset="-122"/>
                <a:cs typeface="Source Serif 4 SemiBold" pitchFamily="34" charset="-120"/>
              </a:rPr>
              <a:t>প্রযুক্তি ব্যবহৃত হয়েছে (Technology Used)</a:t>
            </a:r>
            <a:endParaRPr lang="en-US" sz="32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417935"/>
            <a:ext cx="349043" cy="349052"/>
          </a:xfrm>
          <a:prstGeom prst="rect">
            <a:avLst/>
          </a:prstGeom>
        </p:spPr>
      </p:pic>
      <p:sp>
        <p:nvSpPr>
          <p:cNvPr id="4" name="Text 1"/>
          <p:cNvSpPr/>
          <p:nvPr/>
        </p:nvSpPr>
        <p:spPr>
          <a:xfrm>
            <a:off x="698086" y="1957884"/>
            <a:ext cx="5302316" cy="256679"/>
          </a:xfrm>
          <a:prstGeom prst="rect">
            <a:avLst/>
          </a:prstGeom>
          <a:noFill/>
          <a:ln/>
        </p:spPr>
        <p:txBody>
          <a:bodyPr wrap="none" lIns="0" tIns="0" rIns="0" bIns="0" rtlCol="0" anchor="t"/>
          <a:lstStyle/>
          <a:p>
            <a:pPr algn="l" indent="0" marL="0">
              <a:lnSpc>
                <a:spcPct val="104000"/>
              </a:lnSpc>
              <a:buNone/>
            </a:pPr>
            <a:r>
              <a:rPr lang="en-US" sz="1600" spc="-32" kern="0" dirty="0">
                <a:solidFill>
                  <a:srgbClr val="272525"/>
                </a:solidFill>
                <a:latin typeface="Source Serif 4 SemiBold" pitchFamily="34" charset="0"/>
                <a:ea typeface="Source Serif 4 SemiBold" pitchFamily="34" charset="-122"/>
                <a:cs typeface="Source Serif 4 SemiBold" pitchFamily="34" charset="-120"/>
              </a:rPr>
              <a:t>Kotlin (কোটলিন)</a:t>
            </a:r>
            <a:endParaRPr lang="en-US" sz="1600" dirty="0"/>
          </a:p>
        </p:txBody>
      </p:sp>
      <p:sp>
        <p:nvSpPr>
          <p:cNvPr id="5" name="Text 2"/>
          <p:cNvSpPr/>
          <p:nvPr/>
        </p:nvSpPr>
        <p:spPr>
          <a:xfrm>
            <a:off x="698086" y="2306141"/>
            <a:ext cx="5302316" cy="523478"/>
          </a:xfrm>
          <a:prstGeom prst="rect">
            <a:avLst/>
          </a:prstGeom>
          <a:noFill/>
          <a:ln/>
        </p:spPr>
        <p:txBody>
          <a:bodyPr wrap="square" lIns="0" tIns="0" rIns="0" bIns="0" rtlCol="0" anchor="t">
            <a:normAutofit/>
          </a:bodyPr>
          <a:lstStyle/>
          <a:p>
            <a:pPr algn="l" indent="0" marL="0">
              <a:lnSpc>
                <a:spcPct val="125000"/>
              </a:lnSpc>
              <a:buNone/>
            </a:pPr>
            <a:r>
              <a:rPr lang="en-US" sz="1350" spc="-27" kern="0" dirty="0">
                <a:solidFill>
                  <a:srgbClr val="272525"/>
                </a:solidFill>
                <a:latin typeface="Source Sans 3" pitchFamily="34" charset="0"/>
                <a:ea typeface="Source Sans 3" pitchFamily="34" charset="-122"/>
                <a:cs typeface="Source Sans 3" pitchFamily="34" charset="-120"/>
              </a:rPr>
              <a:t>Modern programming language for Android (অ্যান্ড্রয়েডের জন্য আধুনিক প্রোগ্রামিং ভাষা)</a:t>
            </a:r>
            <a:endParaRPr lang="en-US" sz="13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1294" y="1417935"/>
            <a:ext cx="349043" cy="349052"/>
          </a:xfrm>
          <a:prstGeom prst="rect">
            <a:avLst/>
          </a:prstGeom>
        </p:spPr>
      </p:pic>
      <p:sp>
        <p:nvSpPr>
          <p:cNvPr id="7" name="Text 3"/>
          <p:cNvSpPr/>
          <p:nvPr/>
        </p:nvSpPr>
        <p:spPr>
          <a:xfrm>
            <a:off x="6191294" y="1957884"/>
            <a:ext cx="5302316" cy="256679"/>
          </a:xfrm>
          <a:prstGeom prst="rect">
            <a:avLst/>
          </a:prstGeom>
          <a:noFill/>
          <a:ln/>
        </p:spPr>
        <p:txBody>
          <a:bodyPr wrap="none" lIns="0" tIns="0" rIns="0" bIns="0" rtlCol="0" anchor="t"/>
          <a:lstStyle/>
          <a:p>
            <a:pPr algn="l" indent="0" marL="0">
              <a:lnSpc>
                <a:spcPct val="104000"/>
              </a:lnSpc>
              <a:buNone/>
            </a:pPr>
            <a:r>
              <a:rPr lang="en-US" sz="1600" spc="-32" kern="0" dirty="0">
                <a:solidFill>
                  <a:srgbClr val="272525"/>
                </a:solidFill>
                <a:latin typeface="Source Serif 4 SemiBold" pitchFamily="34" charset="0"/>
                <a:ea typeface="Source Serif 4 SemiBold" pitchFamily="34" charset="-122"/>
                <a:cs typeface="Source Serif 4 SemiBold" pitchFamily="34" charset="-120"/>
              </a:rPr>
              <a:t>Jetpack Compose (জেটপ্যাক কম্পোজ)</a:t>
            </a:r>
            <a:endParaRPr lang="en-US" sz="1600" dirty="0"/>
          </a:p>
        </p:txBody>
      </p:sp>
      <p:sp>
        <p:nvSpPr>
          <p:cNvPr id="8" name="Text 4"/>
          <p:cNvSpPr/>
          <p:nvPr/>
        </p:nvSpPr>
        <p:spPr>
          <a:xfrm>
            <a:off x="6191294" y="2306141"/>
            <a:ext cx="5302316" cy="261739"/>
          </a:xfrm>
          <a:prstGeom prst="rect">
            <a:avLst/>
          </a:prstGeom>
          <a:noFill/>
          <a:ln/>
        </p:spPr>
        <p:txBody>
          <a:bodyPr wrap="none" lIns="0" tIns="0" rIns="0" bIns="0" rtlCol="0" anchor="t"/>
          <a:lstStyle/>
          <a:p>
            <a:pPr algn="l" indent="0" marL="0">
              <a:lnSpc>
                <a:spcPct val="125000"/>
              </a:lnSpc>
              <a:buNone/>
            </a:pPr>
            <a:r>
              <a:rPr lang="en-US" sz="1350" spc="-27" kern="0" dirty="0">
                <a:solidFill>
                  <a:srgbClr val="272525"/>
                </a:solidFill>
                <a:latin typeface="Source Sans 3" pitchFamily="34" charset="0"/>
                <a:ea typeface="Source Sans 3" pitchFamily="34" charset="-122"/>
                <a:cs typeface="Source Sans 3" pitchFamily="34" charset="-120"/>
              </a:rPr>
              <a:t>Builds the user interface (ইউজার ইন্টারফেস তৈরি করে)</a:t>
            </a:r>
            <a:endParaRPr lang="en-US" sz="13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3135015"/>
            <a:ext cx="349043" cy="349052"/>
          </a:xfrm>
          <a:prstGeom prst="rect">
            <a:avLst/>
          </a:prstGeom>
        </p:spPr>
      </p:pic>
      <p:sp>
        <p:nvSpPr>
          <p:cNvPr id="10" name="Text 5"/>
          <p:cNvSpPr/>
          <p:nvPr/>
        </p:nvSpPr>
        <p:spPr>
          <a:xfrm>
            <a:off x="698086" y="3674963"/>
            <a:ext cx="5302316" cy="256679"/>
          </a:xfrm>
          <a:prstGeom prst="rect">
            <a:avLst/>
          </a:prstGeom>
          <a:noFill/>
          <a:ln/>
        </p:spPr>
        <p:txBody>
          <a:bodyPr wrap="none" lIns="0" tIns="0" rIns="0" bIns="0" rtlCol="0" anchor="t"/>
          <a:lstStyle/>
          <a:p>
            <a:pPr algn="l" indent="0" marL="0">
              <a:lnSpc>
                <a:spcPct val="104000"/>
              </a:lnSpc>
              <a:buNone/>
            </a:pPr>
            <a:r>
              <a:rPr lang="en-US" sz="1600" spc="-32" kern="0" dirty="0">
                <a:solidFill>
                  <a:srgbClr val="272525"/>
                </a:solidFill>
                <a:latin typeface="Source Serif 4 SemiBold" pitchFamily="34" charset="0"/>
                <a:ea typeface="Source Serif 4 SemiBold" pitchFamily="34" charset="-122"/>
                <a:cs typeface="Source Serif 4 SemiBold" pitchFamily="34" charset="-120"/>
              </a:rPr>
              <a:t>Room Database (রুম ডাটাবেস)</a:t>
            </a:r>
            <a:endParaRPr lang="en-US" sz="1600" dirty="0"/>
          </a:p>
        </p:txBody>
      </p:sp>
      <p:sp>
        <p:nvSpPr>
          <p:cNvPr id="11" name="Text 6"/>
          <p:cNvSpPr/>
          <p:nvPr/>
        </p:nvSpPr>
        <p:spPr>
          <a:xfrm>
            <a:off x="698086" y="4023221"/>
            <a:ext cx="5302316" cy="261739"/>
          </a:xfrm>
          <a:prstGeom prst="rect">
            <a:avLst/>
          </a:prstGeom>
          <a:noFill/>
          <a:ln/>
        </p:spPr>
        <p:txBody>
          <a:bodyPr wrap="none" lIns="0" tIns="0" rIns="0" bIns="0" rtlCol="0" anchor="t"/>
          <a:lstStyle/>
          <a:p>
            <a:pPr algn="l" indent="0" marL="0">
              <a:lnSpc>
                <a:spcPct val="125000"/>
              </a:lnSpc>
              <a:buNone/>
            </a:pPr>
            <a:r>
              <a:rPr lang="en-US" sz="1350" spc="-27" kern="0" dirty="0">
                <a:solidFill>
                  <a:srgbClr val="272525"/>
                </a:solidFill>
                <a:latin typeface="Source Sans 3" pitchFamily="34" charset="0"/>
                <a:ea typeface="Source Sans 3" pitchFamily="34" charset="-122"/>
                <a:cs typeface="Source Sans 3" pitchFamily="34" charset="-120"/>
              </a:rPr>
              <a:t>Stores notes and drawings locally (নোট ও ড্রয়িং লোকালি সংরক্ষণ করে)</a:t>
            </a:r>
            <a:endParaRPr lang="en-US" sz="13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1294" y="3135015"/>
            <a:ext cx="349043" cy="349052"/>
          </a:xfrm>
          <a:prstGeom prst="rect">
            <a:avLst/>
          </a:prstGeom>
        </p:spPr>
      </p:pic>
      <p:sp>
        <p:nvSpPr>
          <p:cNvPr id="13" name="Text 7"/>
          <p:cNvSpPr/>
          <p:nvPr/>
        </p:nvSpPr>
        <p:spPr>
          <a:xfrm>
            <a:off x="6191294" y="3674963"/>
            <a:ext cx="5302316" cy="256679"/>
          </a:xfrm>
          <a:prstGeom prst="rect">
            <a:avLst/>
          </a:prstGeom>
          <a:noFill/>
          <a:ln/>
        </p:spPr>
        <p:txBody>
          <a:bodyPr wrap="none" lIns="0" tIns="0" rIns="0" bIns="0" rtlCol="0" anchor="t"/>
          <a:lstStyle/>
          <a:p>
            <a:pPr algn="l" indent="0" marL="0">
              <a:lnSpc>
                <a:spcPct val="104000"/>
              </a:lnSpc>
              <a:buNone/>
            </a:pPr>
            <a:r>
              <a:rPr lang="en-US" sz="1600" spc="-32" kern="0" dirty="0">
                <a:solidFill>
                  <a:srgbClr val="272525"/>
                </a:solidFill>
                <a:latin typeface="Source Serif 4 SemiBold" pitchFamily="34" charset="0"/>
                <a:ea typeface="Source Serif 4 SemiBold" pitchFamily="34" charset="-122"/>
                <a:cs typeface="Source Serif 4 SemiBold" pitchFamily="34" charset="-120"/>
              </a:rPr>
              <a:t>DataStore (ডেটাস্টোর)</a:t>
            </a:r>
            <a:endParaRPr lang="en-US" sz="1600" dirty="0"/>
          </a:p>
        </p:txBody>
      </p:sp>
      <p:sp>
        <p:nvSpPr>
          <p:cNvPr id="14" name="Text 8"/>
          <p:cNvSpPr/>
          <p:nvPr/>
        </p:nvSpPr>
        <p:spPr>
          <a:xfrm>
            <a:off x="6191294" y="4023221"/>
            <a:ext cx="5302316" cy="261739"/>
          </a:xfrm>
          <a:prstGeom prst="rect">
            <a:avLst/>
          </a:prstGeom>
          <a:noFill/>
          <a:ln/>
        </p:spPr>
        <p:txBody>
          <a:bodyPr wrap="none" lIns="0" tIns="0" rIns="0" bIns="0" rtlCol="0" anchor="t"/>
          <a:lstStyle/>
          <a:p>
            <a:pPr algn="l" indent="0" marL="0">
              <a:lnSpc>
                <a:spcPct val="125000"/>
              </a:lnSpc>
              <a:buNone/>
            </a:pPr>
            <a:r>
              <a:rPr lang="en-US" sz="1350" spc="-27" kern="0" dirty="0">
                <a:solidFill>
                  <a:srgbClr val="272525"/>
                </a:solidFill>
                <a:latin typeface="Source Sans 3" pitchFamily="34" charset="0"/>
                <a:ea typeface="Source Sans 3" pitchFamily="34" charset="-122"/>
                <a:cs typeface="Source Sans 3" pitchFamily="34" charset="-120"/>
              </a:rPr>
              <a:t>Saves user preferences (ব্যবহারকারীর পছন্দ সংরক্ষণ করে)</a:t>
            </a:r>
            <a:endParaRPr lang="en-US" sz="13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8086" y="4590355"/>
            <a:ext cx="349043" cy="349052"/>
          </a:xfrm>
          <a:prstGeom prst="rect">
            <a:avLst/>
          </a:prstGeom>
        </p:spPr>
      </p:pic>
      <p:sp>
        <p:nvSpPr>
          <p:cNvPr id="16" name="Text 9"/>
          <p:cNvSpPr/>
          <p:nvPr/>
        </p:nvSpPr>
        <p:spPr>
          <a:xfrm>
            <a:off x="698086" y="5130304"/>
            <a:ext cx="5302316" cy="513358"/>
          </a:xfrm>
          <a:prstGeom prst="rect">
            <a:avLst/>
          </a:prstGeom>
          <a:noFill/>
          <a:ln/>
        </p:spPr>
        <p:txBody>
          <a:bodyPr wrap="square" lIns="0" tIns="0" rIns="0" bIns="0" rtlCol="0" anchor="t">
            <a:normAutofit/>
          </a:bodyPr>
          <a:lstStyle/>
          <a:p>
            <a:pPr algn="l" indent="0" marL="0">
              <a:lnSpc>
                <a:spcPct val="104000"/>
              </a:lnSpc>
              <a:buNone/>
            </a:pPr>
            <a:r>
              <a:rPr lang="en-US" sz="1600" spc="-32" kern="0" dirty="0">
                <a:solidFill>
                  <a:srgbClr val="272525"/>
                </a:solidFill>
                <a:latin typeface="Source Serif 4 SemiBold" pitchFamily="34" charset="0"/>
                <a:ea typeface="Source Serif 4 SemiBold" pitchFamily="34" charset="-122"/>
                <a:cs typeface="Source Serif 4 SemiBold" pitchFamily="34" charset="-120"/>
              </a:rPr>
              <a:t>AlarmManager &amp; BroadcastReceiver (অ্যালার্ম ম্যানেজার ও ব্রডকাস্ট রিসিভার)</a:t>
            </a:r>
            <a:endParaRPr lang="en-US" sz="1600" dirty="0"/>
          </a:p>
        </p:txBody>
      </p:sp>
      <p:sp>
        <p:nvSpPr>
          <p:cNvPr id="17" name="Text 10"/>
          <p:cNvSpPr/>
          <p:nvPr/>
        </p:nvSpPr>
        <p:spPr>
          <a:xfrm>
            <a:off x="698086" y="5735241"/>
            <a:ext cx="5302316" cy="523478"/>
          </a:xfrm>
          <a:prstGeom prst="rect">
            <a:avLst/>
          </a:prstGeom>
          <a:noFill/>
          <a:ln/>
        </p:spPr>
        <p:txBody>
          <a:bodyPr wrap="square" lIns="0" tIns="0" rIns="0" bIns="0" rtlCol="0" anchor="t">
            <a:normAutofit/>
          </a:bodyPr>
          <a:lstStyle/>
          <a:p>
            <a:pPr algn="l" indent="0" marL="0">
              <a:lnSpc>
                <a:spcPct val="125000"/>
              </a:lnSpc>
              <a:buNone/>
            </a:pPr>
            <a:r>
              <a:rPr lang="en-US" sz="1350" spc="-27" kern="0" dirty="0">
                <a:solidFill>
                  <a:srgbClr val="272525"/>
                </a:solidFill>
                <a:latin typeface="Source Sans 3" pitchFamily="34" charset="0"/>
                <a:ea typeface="Source Sans 3" pitchFamily="34" charset="-122"/>
                <a:cs typeface="Source Sans 3" pitchFamily="34" charset="-120"/>
              </a:rPr>
              <a:t>Handle reminders and notifications (রিমাইন্ডার ও নোটিফিকেশন পরিচালনা করে)</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98086" y="1677987"/>
            <a:ext cx="10795524" cy="1173361"/>
          </a:xfrm>
          <a:prstGeom prst="rect">
            <a:avLst/>
          </a:prstGeom>
          <a:noFill/>
          <a:ln/>
        </p:spPr>
        <p:txBody>
          <a:bodyPr wrap="square" lIns="0" tIns="0" rIns="0" bIns="0" rtlCol="0" anchor="t">
            <a:normAutofit/>
          </a:bodyPr>
          <a:lstStyle/>
          <a:p>
            <a:pPr algn="l" indent="0" marL="0">
              <a:lnSpc>
                <a:spcPct val="104000"/>
              </a:lnSpc>
              <a:buNone/>
            </a:pPr>
            <a:r>
              <a:rPr lang="en-US" sz="3650" spc="-74" kern="0" dirty="0">
                <a:solidFill>
                  <a:srgbClr val="D73AD7"/>
                </a:solidFill>
                <a:latin typeface="Source Serif 4 SemiBold" pitchFamily="34" charset="0"/>
                <a:ea typeface="Source Serif 4 SemiBold" pitchFamily="34" charset="-122"/>
                <a:cs typeface="Source Serif 4 SemiBold" pitchFamily="34" charset="-120"/>
              </a:rPr>
              <a:t>Privacy and Offline Usage (গোপনীয়তা ও অফলাইন ব্যবহার)</a:t>
            </a:r>
            <a:endParaRPr lang="en-US" sz="3650" dirty="0"/>
          </a:p>
        </p:txBody>
      </p:sp>
      <p:sp>
        <p:nvSpPr>
          <p:cNvPr id="3" name="Text 1"/>
          <p:cNvSpPr/>
          <p:nvPr/>
        </p:nvSpPr>
        <p:spPr>
          <a:xfrm>
            <a:off x="698086" y="3150493"/>
            <a:ext cx="11405108" cy="319187"/>
          </a:xfrm>
          <a:prstGeom prst="rect">
            <a:avLst/>
          </a:prstGeom>
          <a:noFill/>
          <a:ln/>
        </p:spPr>
        <p:txBody>
          <a:bodyPr wrap="none" lIns="0" tIns="0" rIns="0" bIns="0" rtlCol="0" anchor="t"/>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Your memories remain private and under your control. (আপনার স্মৃতিগুলো ব্যক্তিগত থাকে এবং আপনার নিয়ন্ত্রণে থাকে।)</a:t>
            </a:r>
            <a:endParaRPr lang="en-US" sz="1550" dirty="0"/>
          </a:p>
        </p:txBody>
      </p:sp>
      <p:sp>
        <p:nvSpPr>
          <p:cNvPr id="4" name="Text 2"/>
          <p:cNvSpPr/>
          <p:nvPr/>
        </p:nvSpPr>
        <p:spPr>
          <a:xfrm>
            <a:off x="698086" y="3694013"/>
            <a:ext cx="10795524" cy="1485999"/>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All diary data stays on your device—no cloud upload (সব ডায়েরি ডেটা আপনার ডিভাইসেই থাকে—কোনো ক্লাউড আপলোড নয়)</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No sign-in or account required (সাইন-ইন বা অ্যাকাউন্টের প্রয়োজন নেই)</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Use the app completely offline (অ্যাপটি সম্পূর্ণ অফলাইনে ব্যবহার করুন)</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You control when to create a backup file (ব্যাকআপ ফাইল কখন তৈরি করবেন, তা আপনি নিয়ন্ত্রণ করেন)</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F4D4F7"/>
          </a:solidFill>
          <a:ln/>
        </p:spPr>
      </p:sp>
      <p:pic>
        <p:nvPicPr>
          <p:cNvPr id="3" name="Image 0" descr="preencoded.png">    </p:cNvPr>
          <p:cNvPicPr>
            <a:picLocks noChangeAspect="1"/>
          </p:cNvPicPr>
          <p:nvPr/>
        </p:nvPicPr>
        <p:blipFill>
          <a:blip r:embed="rId1"/>
          <a:stretch>
            <a:fillRect/>
          </a:stretch>
        </p:blipFill>
        <p:spPr>
          <a:xfrm>
            <a:off x="98125" y="511870"/>
            <a:ext cx="4375537" cy="5834261"/>
          </a:xfrm>
          <a:prstGeom prst="rect">
            <a:avLst/>
          </a:prstGeom>
        </p:spPr>
      </p:pic>
      <p:sp>
        <p:nvSpPr>
          <p:cNvPr id="4" name="Text 1"/>
          <p:cNvSpPr/>
          <p:nvPr/>
        </p:nvSpPr>
        <p:spPr>
          <a:xfrm>
            <a:off x="5269971" y="564654"/>
            <a:ext cx="6223638" cy="1155105"/>
          </a:xfrm>
          <a:prstGeom prst="rect">
            <a:avLst/>
          </a:prstGeom>
          <a:noFill/>
          <a:ln/>
        </p:spPr>
        <p:txBody>
          <a:bodyPr wrap="square" lIns="0" tIns="0" rIns="0" bIns="0" rtlCol="0" anchor="t">
            <a:normAutofit/>
          </a:bodyPr>
          <a:lstStyle/>
          <a:p>
            <a:pPr algn="l" indent="0" marL="0">
              <a:lnSpc>
                <a:spcPct val="104000"/>
              </a:lnSpc>
              <a:buNone/>
            </a:pPr>
            <a:r>
              <a:rPr lang="en-US" sz="3600" spc="-73" kern="0" dirty="0">
                <a:solidFill>
                  <a:srgbClr val="D73AD7"/>
                </a:solidFill>
                <a:latin typeface="Source Serif 4 SemiBold" pitchFamily="34" charset="0"/>
                <a:ea typeface="Source Serif 4 SemiBold" pitchFamily="34" charset="-122"/>
                <a:cs typeface="Source Serif 4 SemiBold" pitchFamily="34" charset="-120"/>
              </a:rPr>
              <a:t>DoodleDates — Your Memory Canvas (মেমোরি ক্যানভাস)</a:t>
            </a:r>
            <a:endParaRPr lang="en-US" sz="3600" dirty="0"/>
          </a:p>
        </p:txBody>
      </p:sp>
      <p:sp>
        <p:nvSpPr>
          <p:cNvPr id="5" name="Shape 2"/>
          <p:cNvSpPr/>
          <p:nvPr/>
        </p:nvSpPr>
        <p:spPr>
          <a:xfrm>
            <a:off x="5269971" y="2009676"/>
            <a:ext cx="3015182" cy="2345333"/>
          </a:xfrm>
          <a:prstGeom prst="roundRect">
            <a:avLst>
              <a:gd name="adj" fmla="val 3516"/>
            </a:avLst>
          </a:prstGeom>
          <a:solidFill>
            <a:srgbClr val="F4D4F7"/>
          </a:solidFill>
          <a:ln w="6350">
            <a:solidFill>
              <a:srgbClr val="DABADD"/>
            </a:solidFill>
            <a:prstDash val="solid"/>
          </a:ln>
        </p:spPr>
      </p:sp>
      <p:sp>
        <p:nvSpPr>
          <p:cNvPr id="6" name="Text 3"/>
          <p:cNvSpPr/>
          <p:nvPr/>
        </p:nvSpPr>
        <p:spPr>
          <a:xfrm>
            <a:off x="5472670" y="2212380"/>
            <a:ext cx="2609785" cy="288727"/>
          </a:xfrm>
          <a:prstGeom prst="rect">
            <a:avLst/>
          </a:prstGeom>
          <a:noFill/>
          <a:ln/>
        </p:spPr>
        <p:txBody>
          <a:bodyPr wrap="none" lIns="0" tIns="0" rIns="0" bIns="0" rtlCol="0" anchor="t"/>
          <a:lstStyle/>
          <a:p>
            <a:pPr algn="l" indent="0" marL="0">
              <a:lnSpc>
                <a:spcPct val="104000"/>
              </a:lnSpc>
              <a:buNone/>
            </a:pPr>
            <a:r>
              <a:rPr lang="en-US" sz="1800" spc="-36"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spc="-36" kern="0" dirty="0">
                <a:solidFill>
                  <a:srgbClr val="272525"/>
                </a:solidFill>
                <a:latin typeface="Source Serif 4 SemiBold" pitchFamily="34" charset="0"/>
                <a:ea typeface="Source Serif 4 SemiBold" pitchFamily="34" charset="-122"/>
                <a:cs typeface="Source Serif 4 SemiBold" pitchFamily="34" charset="-120"/>
              </a:rPr>
              <a:t> One App (একটি অ্যাপ)</a:t>
            </a:r>
            <a:endParaRPr lang="en-US" sz="1800" dirty="0"/>
          </a:p>
        </p:txBody>
      </p:sp>
      <p:sp>
        <p:nvSpPr>
          <p:cNvPr id="7" name="Text 4"/>
          <p:cNvSpPr/>
          <p:nvPr/>
        </p:nvSpPr>
        <p:spPr>
          <a:xfrm>
            <a:off x="5472670" y="2616994"/>
            <a:ext cx="2609785" cy="1246584"/>
          </a:xfrm>
          <a:prstGeom prst="rect">
            <a:avLst/>
          </a:prstGeom>
          <a:noFill/>
          <a:ln/>
        </p:spPr>
        <p:txBody>
          <a:bodyPr wrap="square" lIns="0" tIns="0" rIns="0" bIns="0" rtlCol="0" anchor="t">
            <a:normAutofit/>
          </a:bodyPr>
          <a:lstStyle/>
          <a:p>
            <a:pPr algn="l" indent="0" marL="0">
              <a:lnSpc>
                <a:spcPct val="132000"/>
              </a:lnSpc>
              <a:buNone/>
            </a:pPr>
            <a:r>
              <a:rPr lang="en-US" sz="1500" spc="-31" kern="0" dirty="0">
                <a:solidFill>
                  <a:srgbClr val="272525"/>
                </a:solidFill>
                <a:latin typeface="Source Sans 3" pitchFamily="34" charset="0"/>
                <a:ea typeface="Source Sans 3" pitchFamily="34" charset="-122"/>
                <a:cs typeface="Source Sans 3" pitchFamily="34" charset="-120"/>
              </a:rPr>
              <a:t>Calendar, drawing, notes &amp; reminders — all in one place (ক্যালেন্ডার, ড্রয়িং, নোট ও রিমাইন্ডার — সব এক জায়গায়)</a:t>
            </a:r>
            <a:endParaRPr lang="en-US" sz="1500" dirty="0"/>
          </a:p>
        </p:txBody>
      </p:sp>
      <p:sp>
        <p:nvSpPr>
          <p:cNvPr id="8" name="Shape 5"/>
          <p:cNvSpPr/>
          <p:nvPr/>
        </p:nvSpPr>
        <p:spPr>
          <a:xfrm>
            <a:off x="8478427" y="2009676"/>
            <a:ext cx="3015182" cy="2345333"/>
          </a:xfrm>
          <a:prstGeom prst="roundRect">
            <a:avLst>
              <a:gd name="adj" fmla="val 3516"/>
            </a:avLst>
          </a:prstGeom>
          <a:solidFill>
            <a:srgbClr val="F4D4F7"/>
          </a:solidFill>
          <a:ln w="6350">
            <a:solidFill>
              <a:srgbClr val="DABADD"/>
            </a:solidFill>
            <a:prstDash val="solid"/>
          </a:ln>
        </p:spPr>
      </p:sp>
      <p:sp>
        <p:nvSpPr>
          <p:cNvPr id="9" name="Text 6"/>
          <p:cNvSpPr/>
          <p:nvPr/>
        </p:nvSpPr>
        <p:spPr>
          <a:xfrm>
            <a:off x="8681126" y="2212380"/>
            <a:ext cx="2609785" cy="577453"/>
          </a:xfrm>
          <a:prstGeom prst="rect">
            <a:avLst/>
          </a:prstGeom>
          <a:noFill/>
          <a:ln/>
        </p:spPr>
        <p:txBody>
          <a:bodyPr wrap="square" lIns="0" tIns="0" rIns="0" bIns="0" rtlCol="0" anchor="t">
            <a:normAutofit/>
          </a:bodyPr>
          <a:lstStyle/>
          <a:p>
            <a:pPr algn="l" indent="0" marL="0">
              <a:lnSpc>
                <a:spcPct val="104000"/>
              </a:lnSpc>
              <a:buNone/>
            </a:pPr>
            <a:r>
              <a:rPr lang="en-US" sz="1800" spc="-36"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spc="-36" kern="0" dirty="0">
                <a:solidFill>
                  <a:srgbClr val="272525"/>
                </a:solidFill>
                <a:latin typeface="Source Serif 4 SemiBold" pitchFamily="34" charset="0"/>
                <a:ea typeface="Source Serif 4 SemiBold" pitchFamily="34" charset="-122"/>
                <a:cs typeface="Source Serif 4 SemiBold" pitchFamily="34" charset="-120"/>
              </a:rPr>
              <a:t> Completely Private (সম্পূর্ণ ব্যক্তিগত)</a:t>
            </a:r>
            <a:endParaRPr lang="en-US" sz="1800" dirty="0"/>
          </a:p>
        </p:txBody>
      </p:sp>
      <p:sp>
        <p:nvSpPr>
          <p:cNvPr id="10" name="Text 7"/>
          <p:cNvSpPr/>
          <p:nvPr/>
        </p:nvSpPr>
        <p:spPr>
          <a:xfrm>
            <a:off x="8681126" y="2905720"/>
            <a:ext cx="2609785" cy="1246584"/>
          </a:xfrm>
          <a:prstGeom prst="rect">
            <a:avLst/>
          </a:prstGeom>
          <a:noFill/>
          <a:ln/>
        </p:spPr>
        <p:txBody>
          <a:bodyPr wrap="square" lIns="0" tIns="0" rIns="0" bIns="0" rtlCol="0" anchor="t">
            <a:normAutofit/>
          </a:bodyPr>
          <a:lstStyle/>
          <a:p>
            <a:pPr algn="l" indent="0" marL="0">
              <a:lnSpc>
                <a:spcPct val="132000"/>
              </a:lnSpc>
              <a:buNone/>
            </a:pPr>
            <a:r>
              <a:rPr lang="en-US" sz="1500" spc="-31" kern="0" dirty="0">
                <a:solidFill>
                  <a:srgbClr val="272525"/>
                </a:solidFill>
                <a:latin typeface="Source Sans 3" pitchFamily="34" charset="0"/>
                <a:ea typeface="Source Sans 3" pitchFamily="34" charset="-122"/>
                <a:cs typeface="Source Sans 3" pitchFamily="34" charset="-120"/>
              </a:rPr>
              <a:t>All data on your device, offline — no server (সব ডেটা আপনার ডিভাইসে, অফলাইনে — কোনো সার্ভার নেই)</a:t>
            </a:r>
            <a:endParaRPr lang="en-US" sz="1500" dirty="0"/>
          </a:p>
        </p:txBody>
      </p:sp>
      <p:sp>
        <p:nvSpPr>
          <p:cNvPr id="11" name="Shape 8"/>
          <p:cNvSpPr/>
          <p:nvPr/>
        </p:nvSpPr>
        <p:spPr>
          <a:xfrm>
            <a:off x="5269971" y="4548287"/>
            <a:ext cx="6223638" cy="1744960"/>
          </a:xfrm>
          <a:prstGeom prst="roundRect">
            <a:avLst>
              <a:gd name="adj" fmla="val 4726"/>
            </a:avLst>
          </a:prstGeom>
          <a:solidFill>
            <a:srgbClr val="F4D4F7"/>
          </a:solidFill>
          <a:ln w="6350">
            <a:solidFill>
              <a:srgbClr val="DABADD"/>
            </a:solidFill>
            <a:prstDash val="solid"/>
          </a:ln>
        </p:spPr>
      </p:sp>
      <p:sp>
        <p:nvSpPr>
          <p:cNvPr id="12" name="Text 9"/>
          <p:cNvSpPr/>
          <p:nvPr/>
        </p:nvSpPr>
        <p:spPr>
          <a:xfrm>
            <a:off x="5472670" y="4750991"/>
            <a:ext cx="5818240" cy="288727"/>
          </a:xfrm>
          <a:prstGeom prst="rect">
            <a:avLst/>
          </a:prstGeom>
          <a:noFill/>
          <a:ln/>
        </p:spPr>
        <p:txBody>
          <a:bodyPr wrap="none" lIns="0" tIns="0" rIns="0" bIns="0" rtlCol="0" anchor="t"/>
          <a:lstStyle/>
          <a:p>
            <a:pPr algn="l" indent="0" marL="0">
              <a:lnSpc>
                <a:spcPct val="104000"/>
              </a:lnSpc>
              <a:buNone/>
            </a:pPr>
            <a:r>
              <a:rPr lang="en-US" sz="1800" spc="-36" kern="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spc="-36" kern="0" dirty="0">
                <a:solidFill>
                  <a:srgbClr val="272525"/>
                </a:solidFill>
                <a:latin typeface="Source Serif 4 SemiBold" pitchFamily="34" charset="0"/>
                <a:ea typeface="Source Serif 4 SemiBold" pitchFamily="34" charset="-122"/>
                <a:cs typeface="Source Serif 4 SemiBold" pitchFamily="34" charset="-120"/>
              </a:rPr>
              <a:t> Backup Support (ব্যাকআপ সাপোর্ট)</a:t>
            </a:r>
            <a:endParaRPr lang="en-US" sz="1800" dirty="0"/>
          </a:p>
        </p:txBody>
      </p:sp>
      <p:sp>
        <p:nvSpPr>
          <p:cNvPr id="13" name="Text 10"/>
          <p:cNvSpPr/>
          <p:nvPr/>
        </p:nvSpPr>
        <p:spPr>
          <a:xfrm>
            <a:off x="5472670" y="5155605"/>
            <a:ext cx="5818240" cy="934938"/>
          </a:xfrm>
          <a:prstGeom prst="rect">
            <a:avLst/>
          </a:prstGeom>
          <a:noFill/>
          <a:ln/>
        </p:spPr>
        <p:txBody>
          <a:bodyPr wrap="square" lIns="0" tIns="0" rIns="0" bIns="0" rtlCol="0" anchor="t">
            <a:normAutofit/>
          </a:bodyPr>
          <a:lstStyle/>
          <a:p>
            <a:pPr algn="l" indent="0" marL="0">
              <a:lnSpc>
                <a:spcPct val="132000"/>
              </a:lnSpc>
              <a:buNone/>
            </a:pPr>
            <a:r>
              <a:rPr lang="en-US" sz="1500" spc="-31" kern="0" dirty="0">
                <a:solidFill>
                  <a:srgbClr val="272525"/>
                </a:solidFill>
                <a:latin typeface="Source Sans 3" pitchFamily="34" charset="0"/>
                <a:ea typeface="Source Sans 3" pitchFamily="34" charset="-122"/>
                <a:cs typeface="Source Sans 3" pitchFamily="34" charset="-120"/>
              </a:rPr>
              <a:t>Export and import data as JSON files to keep your memories safe (আপনার স্মৃতিগুলো নিরাপদ রাখতে JSON ফাইল হিসেবে ডেটা এক্সপোর্ট ও ইমপোর্ট করুন)</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4D4F7"/>
          </a:solidFill>
          <a:ln/>
        </p:spPr>
      </p:sp>
      <p:pic>
        <p:nvPicPr>
          <p:cNvPr id="3" name="Image 0" descr="preencoded.png">    </p:cNvPr>
          <p:cNvPicPr>
            <a:picLocks noChangeAspect="1"/>
          </p:cNvPicPr>
          <p:nvPr/>
        </p:nvPicPr>
        <p:blipFill>
          <a:blip r:embed="rId1"/>
          <a:stretch>
            <a:fillRect/>
          </a:stretch>
        </p:blipFill>
        <p:spPr>
          <a:xfrm>
            <a:off x="7685193" y="468213"/>
            <a:ext cx="4441019" cy="5921573"/>
          </a:xfrm>
          <a:prstGeom prst="rect">
            <a:avLst/>
          </a:prstGeom>
        </p:spPr>
      </p:pic>
      <p:sp>
        <p:nvSpPr>
          <p:cNvPr id="4" name="Text 1"/>
          <p:cNvSpPr/>
          <p:nvPr/>
        </p:nvSpPr>
        <p:spPr>
          <a:xfrm>
            <a:off x="698086" y="616049"/>
            <a:ext cx="6223638" cy="385068"/>
          </a:xfrm>
          <a:prstGeom prst="rect">
            <a:avLst/>
          </a:prstGeom>
          <a:noFill/>
          <a:ln/>
        </p:spPr>
        <p:txBody>
          <a:bodyPr wrap="none" lIns="0" tIns="0" rIns="0" bIns="0" rtlCol="0" anchor="t"/>
          <a:lstStyle/>
          <a:p>
            <a:pPr algn="l" indent="0" marL="0">
              <a:lnSpc>
                <a:spcPct val="104000"/>
              </a:lnSpc>
              <a:buNone/>
            </a:pPr>
            <a:r>
              <a:rPr lang="en-US" sz="2400" spc="-49" kern="0" dirty="0">
                <a:solidFill>
                  <a:srgbClr val="D73AD7"/>
                </a:solidFill>
                <a:latin typeface="Source Serif 4 SemiBold" pitchFamily="34" charset="0"/>
                <a:ea typeface="Source Serif 4 SemiBold" pitchFamily="34" charset="-122"/>
                <a:cs typeface="Source Serif 4 SemiBold" pitchFamily="34" charset="-120"/>
              </a:rPr>
              <a:t>How Data Is Stored (ডেটা কীভাবে সংরক্ষিত হয়)</a:t>
            </a:r>
            <a:endParaRPr lang="en-US" sz="2400" dirty="0"/>
          </a:p>
        </p:txBody>
      </p:sp>
      <p:sp>
        <p:nvSpPr>
          <p:cNvPr id="5" name="Shape 2"/>
          <p:cNvSpPr/>
          <p:nvPr/>
        </p:nvSpPr>
        <p:spPr>
          <a:xfrm>
            <a:off x="698086" y="1129903"/>
            <a:ext cx="6223638" cy="1170285"/>
          </a:xfrm>
          <a:prstGeom prst="roundRect">
            <a:avLst>
              <a:gd name="adj" fmla="val 4698"/>
            </a:avLst>
          </a:prstGeom>
          <a:solidFill>
            <a:srgbClr val="F4D4F7"/>
          </a:solidFill>
          <a:ln w="6350">
            <a:solidFill>
              <a:srgbClr val="DABADD"/>
            </a:solidFill>
            <a:prstDash val="solid"/>
          </a:ln>
        </p:spPr>
      </p:sp>
      <p:sp>
        <p:nvSpPr>
          <p:cNvPr id="6" name="Shape 3"/>
          <p:cNvSpPr/>
          <p:nvPr/>
        </p:nvSpPr>
        <p:spPr>
          <a:xfrm>
            <a:off x="835302" y="1267123"/>
            <a:ext cx="392698" cy="392708"/>
          </a:xfrm>
          <a:prstGeom prst="ellipse">
            <a:avLst/>
          </a:prstGeom>
          <a:solidFill>
            <a:srgbClr val="AF41F0"/>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3249" y="1375073"/>
            <a:ext cx="176704" cy="176709"/>
          </a:xfrm>
          <a:prstGeom prst="rect">
            <a:avLst/>
          </a:prstGeom>
        </p:spPr>
      </p:pic>
      <p:sp>
        <p:nvSpPr>
          <p:cNvPr id="8" name="Text 4"/>
          <p:cNvSpPr/>
          <p:nvPr/>
        </p:nvSpPr>
        <p:spPr>
          <a:xfrm>
            <a:off x="835302" y="1745655"/>
            <a:ext cx="5949206" cy="192484"/>
          </a:xfrm>
          <a:prstGeom prst="rect">
            <a:avLst/>
          </a:prstGeom>
          <a:noFill/>
          <a:ln/>
        </p:spPr>
        <p:txBody>
          <a:bodyPr wrap="none" lIns="0" tIns="0" rIns="0" bIns="0" rtlCol="0" anchor="t"/>
          <a:lstStyle/>
          <a:p>
            <a:pPr algn="l" indent="0" marL="0">
              <a:lnSpc>
                <a:spcPct val="104000"/>
              </a:lnSpc>
              <a:buNone/>
            </a:pPr>
            <a:r>
              <a:rPr lang="en-US" sz="1200" spc="-24" kern="0" dirty="0">
                <a:solidFill>
                  <a:srgbClr val="272525"/>
                </a:solidFill>
                <a:latin typeface="Source Serif 4 SemiBold" pitchFamily="34" charset="0"/>
                <a:ea typeface="Source Serif 4 SemiBold" pitchFamily="34" charset="-122"/>
                <a:cs typeface="Source Serif 4 SemiBold" pitchFamily="34" charset="-120"/>
              </a:rPr>
              <a:t>Room Database (রুম ডাটাবেস)</a:t>
            </a:r>
            <a:endParaRPr lang="en-US" sz="1200" dirty="0"/>
          </a:p>
        </p:txBody>
      </p:sp>
      <p:sp>
        <p:nvSpPr>
          <p:cNvPr id="9" name="Text 5"/>
          <p:cNvSpPr/>
          <p:nvPr/>
        </p:nvSpPr>
        <p:spPr>
          <a:xfrm>
            <a:off x="835302" y="1989634"/>
            <a:ext cx="5949206" cy="173335"/>
          </a:xfrm>
          <a:prstGeom prst="rect">
            <a:avLst/>
          </a:prstGeom>
          <a:noFill/>
          <a:ln/>
        </p:spPr>
        <p:txBody>
          <a:bodyPr wrap="none" lIns="0" tIns="0" rIns="0" bIns="0" rtlCol="0" anchor="t"/>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Stores all drawings and notes locally on your device (সব ড্রয়িং ও নোট আপনার ডিভাইসেই লোকালি সংরক্ষণ করে)</a:t>
            </a:r>
            <a:endParaRPr lang="en-US" sz="1000" dirty="0"/>
          </a:p>
        </p:txBody>
      </p:sp>
      <p:sp>
        <p:nvSpPr>
          <p:cNvPr id="10" name="Shape 6"/>
          <p:cNvSpPr/>
          <p:nvPr/>
        </p:nvSpPr>
        <p:spPr>
          <a:xfrm>
            <a:off x="698086" y="2386013"/>
            <a:ext cx="6223638" cy="1170285"/>
          </a:xfrm>
          <a:prstGeom prst="roundRect">
            <a:avLst>
              <a:gd name="adj" fmla="val 4698"/>
            </a:avLst>
          </a:prstGeom>
          <a:solidFill>
            <a:srgbClr val="F4D4F7"/>
          </a:solidFill>
          <a:ln w="6350">
            <a:solidFill>
              <a:srgbClr val="DABADD"/>
            </a:solidFill>
            <a:prstDash val="solid"/>
          </a:ln>
        </p:spPr>
      </p:sp>
      <p:sp>
        <p:nvSpPr>
          <p:cNvPr id="11" name="Shape 7"/>
          <p:cNvSpPr/>
          <p:nvPr/>
        </p:nvSpPr>
        <p:spPr>
          <a:xfrm>
            <a:off x="835302" y="2523232"/>
            <a:ext cx="392698" cy="392708"/>
          </a:xfrm>
          <a:prstGeom prst="ellipse">
            <a:avLst/>
          </a:prstGeom>
          <a:solidFill>
            <a:srgbClr val="AF41F0"/>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3249" y="2631182"/>
            <a:ext cx="176704" cy="176709"/>
          </a:xfrm>
          <a:prstGeom prst="rect">
            <a:avLst/>
          </a:prstGeom>
        </p:spPr>
      </p:pic>
      <p:sp>
        <p:nvSpPr>
          <p:cNvPr id="13" name="Text 8"/>
          <p:cNvSpPr/>
          <p:nvPr/>
        </p:nvSpPr>
        <p:spPr>
          <a:xfrm>
            <a:off x="835302" y="3001764"/>
            <a:ext cx="5949206" cy="192484"/>
          </a:xfrm>
          <a:prstGeom prst="rect">
            <a:avLst/>
          </a:prstGeom>
          <a:noFill/>
          <a:ln/>
        </p:spPr>
        <p:txBody>
          <a:bodyPr wrap="none" lIns="0" tIns="0" rIns="0" bIns="0" rtlCol="0" anchor="t"/>
          <a:lstStyle/>
          <a:p>
            <a:pPr algn="l" indent="0" marL="0">
              <a:lnSpc>
                <a:spcPct val="104000"/>
              </a:lnSpc>
              <a:buNone/>
            </a:pPr>
            <a:r>
              <a:rPr lang="en-US" sz="1200" spc="-24" kern="0" dirty="0">
                <a:solidFill>
                  <a:srgbClr val="272525"/>
                </a:solidFill>
                <a:latin typeface="Source Serif 4 SemiBold" pitchFamily="34" charset="0"/>
                <a:ea typeface="Source Serif 4 SemiBold" pitchFamily="34" charset="-122"/>
                <a:cs typeface="Source Serif 4 SemiBold" pitchFamily="34" charset="-120"/>
              </a:rPr>
              <a:t>DataStore (ডেটা স্টোর)</a:t>
            </a:r>
            <a:endParaRPr lang="en-US" sz="1200" dirty="0"/>
          </a:p>
        </p:txBody>
      </p:sp>
      <p:sp>
        <p:nvSpPr>
          <p:cNvPr id="14" name="Text 9"/>
          <p:cNvSpPr/>
          <p:nvPr/>
        </p:nvSpPr>
        <p:spPr>
          <a:xfrm>
            <a:off x="835302" y="3245743"/>
            <a:ext cx="5949206" cy="173335"/>
          </a:xfrm>
          <a:prstGeom prst="rect">
            <a:avLst/>
          </a:prstGeom>
          <a:noFill/>
          <a:ln/>
        </p:spPr>
        <p:txBody>
          <a:bodyPr wrap="none" lIns="0" tIns="0" rIns="0" bIns="0" rtlCol="0" anchor="t"/>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Saves your preferences like theme and vibration settings (থিম ও ভাইব্রেশন সেটিংসের মতো পছন্দগুলো সেভ করে)</a:t>
            </a:r>
            <a:endParaRPr lang="en-US" sz="1000" dirty="0"/>
          </a:p>
        </p:txBody>
      </p:sp>
      <p:sp>
        <p:nvSpPr>
          <p:cNvPr id="15" name="Shape 10"/>
          <p:cNvSpPr/>
          <p:nvPr/>
        </p:nvSpPr>
        <p:spPr>
          <a:xfrm>
            <a:off x="698086" y="3642122"/>
            <a:ext cx="6223638" cy="1170285"/>
          </a:xfrm>
          <a:prstGeom prst="roundRect">
            <a:avLst>
              <a:gd name="adj" fmla="val 4698"/>
            </a:avLst>
          </a:prstGeom>
          <a:solidFill>
            <a:srgbClr val="F4D4F7"/>
          </a:solidFill>
          <a:ln w="6350">
            <a:solidFill>
              <a:srgbClr val="DABADD"/>
            </a:solidFill>
            <a:prstDash val="solid"/>
          </a:ln>
        </p:spPr>
      </p:sp>
      <p:sp>
        <p:nvSpPr>
          <p:cNvPr id="16" name="Shape 11"/>
          <p:cNvSpPr/>
          <p:nvPr/>
        </p:nvSpPr>
        <p:spPr>
          <a:xfrm>
            <a:off x="835302" y="3779341"/>
            <a:ext cx="392698" cy="392708"/>
          </a:xfrm>
          <a:prstGeom prst="ellipse">
            <a:avLst/>
          </a:prstGeom>
          <a:solidFill>
            <a:srgbClr val="AF41F0"/>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3249" y="3887291"/>
            <a:ext cx="176704" cy="176709"/>
          </a:xfrm>
          <a:prstGeom prst="rect">
            <a:avLst/>
          </a:prstGeom>
        </p:spPr>
      </p:pic>
      <p:sp>
        <p:nvSpPr>
          <p:cNvPr id="18" name="Text 12"/>
          <p:cNvSpPr/>
          <p:nvPr/>
        </p:nvSpPr>
        <p:spPr>
          <a:xfrm>
            <a:off x="835302" y="4257873"/>
            <a:ext cx="5949206" cy="192484"/>
          </a:xfrm>
          <a:prstGeom prst="rect">
            <a:avLst/>
          </a:prstGeom>
          <a:noFill/>
          <a:ln/>
        </p:spPr>
        <p:txBody>
          <a:bodyPr wrap="none" lIns="0" tIns="0" rIns="0" bIns="0" rtlCol="0" anchor="t"/>
          <a:lstStyle/>
          <a:p>
            <a:pPr algn="l" indent="0" marL="0">
              <a:lnSpc>
                <a:spcPct val="104000"/>
              </a:lnSpc>
              <a:buNone/>
            </a:pPr>
            <a:r>
              <a:rPr lang="en-US" sz="1200" spc="-24" kern="0" dirty="0">
                <a:solidFill>
                  <a:srgbClr val="272525"/>
                </a:solidFill>
                <a:latin typeface="Source Serif 4 SemiBold" pitchFamily="34" charset="0"/>
                <a:ea typeface="Source Serif 4 SemiBold" pitchFamily="34" charset="-122"/>
                <a:cs typeface="Source Serif 4 SemiBold" pitchFamily="34" charset="-120"/>
              </a:rPr>
              <a:t>No internet or server account needed (ইন্টারনেট বা সার্ভার অ্যাকাউন্টের দরকার নেই)</a:t>
            </a:r>
            <a:endParaRPr lang="en-US" sz="1200" dirty="0"/>
          </a:p>
        </p:txBody>
      </p:sp>
      <p:sp>
        <p:nvSpPr>
          <p:cNvPr id="19" name="Text 13"/>
          <p:cNvSpPr/>
          <p:nvPr/>
        </p:nvSpPr>
        <p:spPr>
          <a:xfrm>
            <a:off x="835302" y="4501852"/>
            <a:ext cx="5949206" cy="173335"/>
          </a:xfrm>
          <a:prstGeom prst="rect">
            <a:avLst/>
          </a:prstGeom>
          <a:noFill/>
          <a:ln/>
        </p:spPr>
        <p:txBody>
          <a:bodyPr wrap="none" lIns="0" tIns="0" rIns="0" bIns="0" rtlCol="0" anchor="t"/>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Everything stays on your phone (সবকিছু আপনার ফোনেই থাকে)</a:t>
            </a:r>
            <a:endParaRPr lang="en-US" sz="1000" dirty="0"/>
          </a:p>
        </p:txBody>
      </p:sp>
      <p:sp>
        <p:nvSpPr>
          <p:cNvPr id="20" name="Shape 14"/>
          <p:cNvSpPr/>
          <p:nvPr/>
        </p:nvSpPr>
        <p:spPr>
          <a:xfrm>
            <a:off x="698086" y="4898231"/>
            <a:ext cx="6223638" cy="1343620"/>
          </a:xfrm>
          <a:prstGeom prst="roundRect">
            <a:avLst>
              <a:gd name="adj" fmla="val 4092"/>
            </a:avLst>
          </a:prstGeom>
          <a:solidFill>
            <a:srgbClr val="F4D4F7"/>
          </a:solidFill>
          <a:ln w="6350">
            <a:solidFill>
              <a:srgbClr val="DABADD"/>
            </a:solidFill>
            <a:prstDash val="solid"/>
          </a:ln>
        </p:spPr>
      </p:sp>
      <p:sp>
        <p:nvSpPr>
          <p:cNvPr id="21" name="Shape 15"/>
          <p:cNvSpPr/>
          <p:nvPr/>
        </p:nvSpPr>
        <p:spPr>
          <a:xfrm>
            <a:off x="835302" y="5035451"/>
            <a:ext cx="392698" cy="392708"/>
          </a:xfrm>
          <a:prstGeom prst="ellipse">
            <a:avLst/>
          </a:prstGeom>
          <a:solidFill>
            <a:srgbClr val="AF41F0"/>
          </a:solidFill>
          <a:ln/>
        </p:spPr>
      </p:sp>
      <p:pic>
        <p:nvPicPr>
          <p:cNvPr id="2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3249" y="5143401"/>
            <a:ext cx="176704" cy="176709"/>
          </a:xfrm>
          <a:prstGeom prst="rect">
            <a:avLst/>
          </a:prstGeom>
        </p:spPr>
      </p:pic>
      <p:sp>
        <p:nvSpPr>
          <p:cNvPr id="23" name="Text 16"/>
          <p:cNvSpPr/>
          <p:nvPr/>
        </p:nvSpPr>
        <p:spPr>
          <a:xfrm>
            <a:off x="835302" y="5513983"/>
            <a:ext cx="5949206" cy="192484"/>
          </a:xfrm>
          <a:prstGeom prst="rect">
            <a:avLst/>
          </a:prstGeom>
          <a:noFill/>
          <a:ln/>
        </p:spPr>
        <p:txBody>
          <a:bodyPr wrap="none" lIns="0" tIns="0" rIns="0" bIns="0" rtlCol="0" anchor="t"/>
          <a:lstStyle/>
          <a:p>
            <a:pPr algn="l" indent="0" marL="0">
              <a:lnSpc>
                <a:spcPct val="104000"/>
              </a:lnSpc>
              <a:buNone/>
            </a:pPr>
            <a:r>
              <a:rPr lang="en-US" sz="1200" spc="-24" kern="0" dirty="0">
                <a:solidFill>
                  <a:srgbClr val="272525"/>
                </a:solidFill>
                <a:latin typeface="Source Serif 4 SemiBold" pitchFamily="34" charset="0"/>
                <a:ea typeface="Source Serif 4 SemiBold" pitchFamily="34" charset="-122"/>
                <a:cs typeface="Source Serif 4 SemiBold" pitchFamily="34" charset="-120"/>
              </a:rPr>
              <a:t>JSON backup file (JSON ব্যাকআপ ফাইল)</a:t>
            </a:r>
            <a:endParaRPr lang="en-US" sz="1200" dirty="0"/>
          </a:p>
        </p:txBody>
      </p:sp>
      <p:sp>
        <p:nvSpPr>
          <p:cNvPr id="24" name="Text 17"/>
          <p:cNvSpPr/>
          <p:nvPr/>
        </p:nvSpPr>
        <p:spPr>
          <a:xfrm>
            <a:off x="835302" y="5757962"/>
            <a:ext cx="5949206" cy="346670"/>
          </a:xfrm>
          <a:prstGeom prst="rect">
            <a:avLst/>
          </a:prstGeom>
          <a:noFill/>
          <a:ln/>
        </p:spPr>
        <p:txBody>
          <a:bodyPr wrap="square" lIns="0" tIns="0" rIns="0" bIns="0" rtlCol="0" anchor="t">
            <a:normAutofit/>
          </a:bodyPr>
          <a:lstStyle/>
          <a:p>
            <a:pPr algn="l" indent="0" marL="0">
              <a:lnSpc>
                <a:spcPct val="110000"/>
              </a:lnSpc>
              <a:buNone/>
            </a:pPr>
            <a:r>
              <a:rPr lang="en-US" sz="1000" spc="-21" kern="0" dirty="0">
                <a:solidFill>
                  <a:srgbClr val="272525"/>
                </a:solidFill>
                <a:latin typeface="Source Sans 3" pitchFamily="34" charset="0"/>
                <a:ea typeface="Source Sans 3" pitchFamily="34" charset="-122"/>
                <a:cs typeface="Source Sans 3" pitchFamily="34" charset="-120"/>
              </a:rPr>
              <a:t>You can manually export a JSON backup file anytime (যেকোনো সময় ম্যানুয়ালি JSON ব্যাকআপ ফাইল এক্সপোর্ট করতে পারেন)</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2026-09-12T11:42:52Z</dcterms:created>
  <dcterms:modified xsi:type="dcterms:W3CDTF">2026-09-12T11:42:52Z</dcterms:modified>
</cp:coreProperties>
</file>